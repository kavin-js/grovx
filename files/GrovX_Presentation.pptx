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Classical (N+1)/2</c:v>
                </c:pt>
              </c:strCache>
            </c:strRef>
          </c:tx>
          <c:spPr>
            <a:solidFill>
              <a:srgbClr val="6B7280"/>
            </a:solidFill>
            <a:ln w="38100" cap="flat">
              <a:solidFill>
                <a:srgbClr val="6B728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6B7280"/>
              </a:solidFill>
              <a:ln w="9525" cap="flat">
                <a:solidFill>
                  <a:srgbClr val="6B7280"/>
                </a:solidFill>
                <a:prstDash val="solid"/>
                <a:round/>
              </a:ln>
              <a:effectLst/>
            </c:spPr>
          </c:marker>
          <c:cat>
            <c:multiLvlStrRef>
              <c:f>Sheet1!$A$2:$A$40</c:f>
              <c:multiLvlStrCache>
                <c:ptCount val="39"/>
                <c:lvl>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pt idx="30">
                    <c:v>32</c:v>
                  </c:pt>
                  <c:pt idx="31">
                    <c:v>33</c:v>
                  </c:pt>
                  <c:pt idx="32">
                    <c:v>34</c:v>
                  </c:pt>
                  <c:pt idx="33">
                    <c:v>35</c:v>
                  </c:pt>
                  <c:pt idx="34">
                    <c:v>36</c:v>
                  </c:pt>
                  <c:pt idx="35">
                    <c:v>37</c:v>
                  </c:pt>
                  <c:pt idx="36">
                    <c:v>38</c:v>
                  </c:pt>
                  <c:pt idx="37">
                    <c:v>39</c:v>
                  </c:pt>
                  <c:pt idx="38">
                    <c:v>40</c:v>
                  </c:pt>
                </c:lvl>
              </c:multiLvlStrCache>
            </c:multiLvlStrRef>
          </c:cat>
          <c:val>
            <c:numRef>
              <c:f>Sheet1!$B$2:$B$40</c:f>
              <c:numCache>
                <c:formatCode>General</c:formatCode>
                <c:ptCount val="39"/>
                <c:pt idx="0">
                  <c:v>2.5</c:v>
                </c:pt>
                <c:pt idx="1">
                  <c:v>4.5</c:v>
                </c:pt>
                <c:pt idx="2">
                  <c:v>8.5</c:v>
                </c:pt>
                <c:pt idx="3">
                  <c:v>16.5</c:v>
                </c:pt>
                <c:pt idx="4">
                  <c:v>32.5</c:v>
                </c:pt>
                <c:pt idx="5">
                  <c:v>64.5</c:v>
                </c:pt>
                <c:pt idx="6">
                  <c:v>128.5</c:v>
                </c:pt>
                <c:pt idx="7">
                  <c:v>256.5</c:v>
                </c:pt>
                <c:pt idx="8">
                  <c:v>512.5</c:v>
                </c:pt>
                <c:pt idx="9">
                  <c:v>1024.5</c:v>
                </c:pt>
                <c:pt idx="10">
                  <c:v>2048.5</c:v>
                </c:pt>
                <c:pt idx="11">
                  <c:v>4096.5</c:v>
                </c:pt>
                <c:pt idx="12">
                  <c:v>8192.5</c:v>
                </c:pt>
                <c:pt idx="13">
                  <c:v>16384.5</c:v>
                </c:pt>
                <c:pt idx="14">
                  <c:v>32768.5</c:v>
                </c:pt>
                <c:pt idx="15">
                  <c:v>65536.5</c:v>
                </c:pt>
                <c:pt idx="16">
                  <c:v>131072.5</c:v>
                </c:pt>
                <c:pt idx="17">
                  <c:v>262144.5</c:v>
                </c:pt>
                <c:pt idx="18">
                  <c:v>524288.5</c:v>
                </c:pt>
                <c:pt idx="19">
                  <c:v>1048576.5</c:v>
                </c:pt>
                <c:pt idx="20">
                  <c:v>2097152.5</c:v>
                </c:pt>
                <c:pt idx="21">
                  <c:v>4194304.5</c:v>
                </c:pt>
                <c:pt idx="22">
                  <c:v>8388608.5</c:v>
                </c:pt>
                <c:pt idx="23">
                  <c:v>16777216.5</c:v>
                </c:pt>
                <c:pt idx="24">
                  <c:v>33554432.5</c:v>
                </c:pt>
                <c:pt idx="25">
                  <c:v>67108864.5</c:v>
                </c:pt>
                <c:pt idx="26">
                  <c:v>134217728.5</c:v>
                </c:pt>
                <c:pt idx="27">
                  <c:v>268435456.5</c:v>
                </c:pt>
                <c:pt idx="28">
                  <c:v>536870912.5</c:v>
                </c:pt>
                <c:pt idx="29">
                  <c:v>1073741824.5</c:v>
                </c:pt>
                <c:pt idx="30">
                  <c:v>2147483648.5</c:v>
                </c:pt>
                <c:pt idx="31">
                  <c:v>4294967296.5</c:v>
                </c:pt>
                <c:pt idx="32">
                  <c:v>8589934592.5</c:v>
                </c:pt>
                <c:pt idx="33">
                  <c:v>17179869184.5</c:v>
                </c:pt>
                <c:pt idx="34">
                  <c:v>34359738368.5</c:v>
                </c:pt>
                <c:pt idx="35">
                  <c:v>68719476736.5</c:v>
                </c:pt>
                <c:pt idx="36">
                  <c:v>137438953472.5</c:v>
                </c:pt>
                <c:pt idx="37">
                  <c:v>274877906944.5</c:v>
                </c:pt>
                <c:pt idx="38">
                  <c:v>549755813888.5</c:v>
                </c:pt>
              </c:numCache>
            </c:numRef>
          </c:val>
          <c:smooth val="0"/>
        </c:ser>
        <c:ser>
          <c:idx val="1"/>
          <c:order val="1"/>
          <c:tx>
            <c:strRef>
              <c:f>Sheet1!$C$1</c:f>
              <c:strCache>
                <c:ptCount val="1"/>
                <c:pt idx="0">
                  <c:v>Grover (π/4)√N</c:v>
                </c:pt>
              </c:strCache>
            </c:strRef>
          </c:tx>
          <c:spPr>
            <a:solidFill>
              <a:srgbClr val="1D3F6E"/>
            </a:solidFill>
            <a:ln w="38100" cap="flat">
              <a:solidFill>
                <a:srgbClr val="1D3F6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D3F6E"/>
              </a:solidFill>
              <a:ln w="9525" cap="flat">
                <a:solidFill>
                  <a:srgbClr val="1D3F6E"/>
                </a:solidFill>
                <a:prstDash val="solid"/>
                <a:round/>
              </a:ln>
              <a:effectLst/>
            </c:spPr>
          </c:marker>
          <c:cat>
            <c:multiLvlStrRef>
              <c:f>Sheet1!$A$2:$A$40</c:f>
              <c:multiLvlStrCache>
                <c:ptCount val="39"/>
                <c:lvl>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pt idx="30">
                    <c:v>32</c:v>
                  </c:pt>
                  <c:pt idx="31">
                    <c:v>33</c:v>
                  </c:pt>
                  <c:pt idx="32">
                    <c:v>34</c:v>
                  </c:pt>
                  <c:pt idx="33">
                    <c:v>35</c:v>
                  </c:pt>
                  <c:pt idx="34">
                    <c:v>36</c:v>
                  </c:pt>
                  <c:pt idx="35">
                    <c:v>37</c:v>
                  </c:pt>
                  <c:pt idx="36">
                    <c:v>38</c:v>
                  </c:pt>
                  <c:pt idx="37">
                    <c:v>39</c:v>
                  </c:pt>
                  <c:pt idx="38">
                    <c:v>40</c:v>
                  </c:pt>
                </c:lvl>
              </c:multiLvlStrCache>
            </c:multiLvlStrRef>
          </c:cat>
          <c:val>
            <c:numRef>
              <c:f>Sheet1!$C$2:$C$40</c:f>
              <c:numCache>
                <c:formatCode>General</c:formatCode>
                <c:ptCount val="39"/>
                <c:pt idx="0">
                  <c:v>1</c:v>
                </c:pt>
                <c:pt idx="1">
                  <c:v>2</c:v>
                </c:pt>
                <c:pt idx="2">
                  <c:v>3</c:v>
                </c:pt>
                <c:pt idx="3">
                  <c:v>4</c:v>
                </c:pt>
                <c:pt idx="4">
                  <c:v>6</c:v>
                </c:pt>
                <c:pt idx="5">
                  <c:v>8</c:v>
                </c:pt>
                <c:pt idx="6">
                  <c:v>12</c:v>
                </c:pt>
                <c:pt idx="7">
                  <c:v>17</c:v>
                </c:pt>
                <c:pt idx="8">
                  <c:v>25</c:v>
                </c:pt>
                <c:pt idx="9">
                  <c:v>35</c:v>
                </c:pt>
                <c:pt idx="10">
                  <c:v>50</c:v>
                </c:pt>
                <c:pt idx="11">
                  <c:v>71</c:v>
                </c:pt>
                <c:pt idx="12">
                  <c:v>100</c:v>
                </c:pt>
                <c:pt idx="13">
                  <c:v>142</c:v>
                </c:pt>
                <c:pt idx="14">
                  <c:v>201</c:v>
                </c:pt>
                <c:pt idx="15">
                  <c:v>284</c:v>
                </c:pt>
                <c:pt idx="16">
                  <c:v>402</c:v>
                </c:pt>
                <c:pt idx="17">
                  <c:v>568</c:v>
                </c:pt>
                <c:pt idx="18">
                  <c:v>804</c:v>
                </c:pt>
                <c:pt idx="19">
                  <c:v>1137</c:v>
                </c:pt>
                <c:pt idx="20">
                  <c:v>1608</c:v>
                </c:pt>
                <c:pt idx="21">
                  <c:v>2274</c:v>
                </c:pt>
                <c:pt idx="22">
                  <c:v>3216</c:v>
                </c:pt>
                <c:pt idx="23">
                  <c:v>4549</c:v>
                </c:pt>
                <c:pt idx="24">
                  <c:v>6433</c:v>
                </c:pt>
                <c:pt idx="25">
                  <c:v>9099</c:v>
                </c:pt>
                <c:pt idx="26">
                  <c:v>12867</c:v>
                </c:pt>
                <c:pt idx="27">
                  <c:v>18198</c:v>
                </c:pt>
                <c:pt idx="28">
                  <c:v>25735</c:v>
                </c:pt>
                <c:pt idx="29">
                  <c:v>36396</c:v>
                </c:pt>
                <c:pt idx="30">
                  <c:v>51471</c:v>
                </c:pt>
                <c:pt idx="31">
                  <c:v>72792</c:v>
                </c:pt>
                <c:pt idx="32">
                  <c:v>102943</c:v>
                </c:pt>
                <c:pt idx="33">
                  <c:v>145584</c:v>
                </c:pt>
                <c:pt idx="34">
                  <c:v>205887</c:v>
                </c:pt>
                <c:pt idx="35">
                  <c:v>291168</c:v>
                </c:pt>
                <c:pt idx="36">
                  <c:v>411774</c:v>
                </c:pt>
                <c:pt idx="37">
                  <c:v>582337</c:v>
                </c:pt>
                <c:pt idx="38">
                  <c:v>823549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000000"/>
                    </a:solidFill>
                    <a:latin typeface="Arial"/>
                  </a:defRPr>
                </a:pPr>
                <a:r>
                  <a:rPr sz="1100" b="0" i="0" u="none" strike="noStrike">
                    <a:solidFill>
                      <a:srgbClr val="000000"/>
                    </a:solidFill>
                    <a:latin typeface="Arial"/>
                  </a:rPr>
                  <a:t>qubits n  (N = 2ⁿ)</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2"/>
        <c:crosses val="autoZero"/>
        <c:auto val="1"/>
        <c:lblAlgn val="ctr"/>
        <c:noMultiLvlLbl val="1"/>
        <c:tickLblSkip val="4"/>
      </c:catAx>
      <c:valAx>
        <c:axId val="2094734552"/>
        <c:scaling>
          <c:logBase val="10"/>
          <c:orientation val="minMax"/>
        </c:scaling>
        <c:delete val="0"/>
        <c:axPos val="l"/>
        <c:majorGridlines>
          <c:spPr>
            <a:ln w="9525" cap="flat">
              <a:solidFill>
                <a:srgbClr val="E5E7EB"/>
              </a:solidFill>
              <a:prstDash val="solid"/>
              <a:round/>
            </a:ln>
          </c:spPr>
        </c:majorGridlines>
        <c:title>
          <c:tx>
            <c:rich>
              <a:bodyPr/>
              <a:lstStyle/>
              <a:p>
                <a:pPr>
                  <a:defRPr sz="1100" b="0" i="0" u="none" strike="noStrike">
                    <a:solidFill>
                      <a:srgbClr val="000000"/>
                    </a:solidFill>
                    <a:latin typeface="Arial"/>
                  </a:defRPr>
                </a:pPr>
                <a:r>
                  <a:rPr sz="1100" b="0" i="0" u="none" strike="noStrike">
                    <a:solidFill>
                      <a:srgbClr val="000000"/>
                    </a:solidFill>
                    <a:latin typeface="Arial"/>
                  </a:rPr>
                  <a:t>queries (log scale)</a:t>
                </a:r>
              </a:p>
            </c:rich>
          </c:tx>
          <c:layout/>
          <c:overlay val="0"/>
        </c:title>
        <c:numFmt formatCode="0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00000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project in one sentence: I implemented Grover’s search algorithm as a real quantum circuit on a simulator, compared it with ordinary classical search, and measured what it would cost on real hardware. The website is live at the address on the slide and everything I show today comes from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problem without any quantum words first. Imagine a lock that only says open or denied. If you have N possible codes and no clue, you try them one by one, which takes about N over 2 attempts on average. The same shape appears for finding a record in an unsorted table or a key of a cipher. Grover’s algorithm needs only about 0.785 times the square root of N queries. That is a quadratic improvement, and it is important to say it is not exponential, because examiners often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four steps. One: Hadamard gates put the register in an equal superposition, so every item has the same tiny amplitude. Two: the oracle marks the secret by flipping the sign of its amplitude; nothing is measurable yet. Three: the diffusion step reflects every amplitude about the average; because the secret is now below average, it ends far above it. Repeat about pi over four times root N. The picture on the right is the geometric reason it works: two reflections make a rotation by 2 theta, so the state turns steadily toward the secret. If you rotate too far it turns past the secret, so you must stop at the right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actual circuit for three qubits with the secret 101. The left dashed block is the oracle: an X gate on the qubit where the secret has a zero, then a multi-controlled Z, then the X again. That flips the sign of exactly one state. The right dashed block is the diffusion step: H, X, multi-controlled Z, X, H on all qubits. Repeat those two blocks. In my code these are literally lists of gates that the simulator executes one by one, so it is a real circuit simulation and not a shortcut formula.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site has six pages: Home, Algorithm, Lab, Benchmarks, Resources and Evaluation. The Lab runs classical search and Grover side by side. A controller in the browser runs both, times them, samples measurements and draws charts. To be sure the circuit is right I wrote twelve automated tests. The key one runs the full circuit for several sizes and compares the success probability after every iteration with the theoretical formula; they agree to nine decimal places. So the results I show are trustworthy.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simulation for 32 items. Panel by panel you can see the red bar growing and the others shrinking. Below are the probabilities of measuring the secret after each iteration: about 3 percent to start, then 26, 60, 90, and 99.9 percent after four iterations. A classical search would need about 16 tries on average. This is the live demo on the Lab page, where you can change the number of qubits and the secret.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grey line is classical search, the blue line is Grover, on a log scale so you can see both. The gap widens with size: 82 times fewer queries at 14 qubits, about 650 times at 20 qubits. I measured the classical numbers by actually running linear search 2000 times per size and the Grover numbers by running the circuit; the lines beyond 14 qubits are the formulas. Success probability at the optimal iteration count is at least 99.5 percent for five qubits and up. For very small sizes it is a little lower, for example 94.5 percent at three qubits, because the number of iterations must be a whole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honest part. If I time the classical search and my simulation of Grover on the same laptop, the simulation is thousands of times slower. That is expected, not a failure: a simulator has to store and update all 2 to the n amplitudes for every gate, while a real quantum computer holds them in n qubits. So the advantage of Grover is in the number of oracle queries on quantum hardware, not in simulator wall-clock time. Saying this clearly makes the evaluation more credible.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Qubits are not the problem: 14 qubits of data need 26 logical qubits with ancillas. Circuit length is. Grover at 14 qubits needs 100 iterations and around 30,000 two-qubit gates. If every gate fails with probability 10 to the minus 3, which is roughly the best today, the whole circuit almost never works. You need around 10 to the minus 6 for it to work. Even then, under my model the quantum run is faster and reliable only for about 14 to 21 qubits with a simple oracle, and if the oracle is a realistic hash-like circuit of 5,000 Toffoli gates, there is no such window. These resource figures are estimates with stated assumptions; they show trends, not vendor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one-slide summary. The important rows: results are probabilistic instead of exact, you need to know how many secrets there are to choose the number of iterations, the oracle must be built as a reversible quantum circuit, parallelism is worse for Grover, and it is very sensitive to errors because circuits are deep. Hardware today cannot run this at useful sizes.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three points. One: the implementation is correct, verified against the formula. Two: the advantage is real but quadratic, and provably optimal for unstructured search. Three: today it is not a practical advantage, because circuits are deep, noise is high and the oracle for a real problem is expensive; it needs error-corrected quantum computers. Its value now is as a foundation, as a building block for other algorithms, and as the reason symmetric keys are recommended to be doubled in length. Then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000000"/>
                </a:solidFill>
                <a:latin typeface="Calibri"/>
                <a:ea typeface="Calibri"/>
                <a:cs typeface="Calibr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00000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itle"/>
          <p:cNvSpPr/>
          <p:nvPr/>
        </p:nvSpPr>
        <p:spPr>
          <a:xfrm>
            <a:off x="731520" y="1417320"/>
            <a:ext cx="7680960" cy="822960"/>
          </a:xfrm>
          <a:prstGeom prst="rect">
            <a:avLst/>
          </a:prstGeom>
          <a:noFill/>
          <a:ln/>
        </p:spPr>
        <p:txBody>
          <a:bodyPr wrap="square" lIns="0" tIns="0" rIns="0" bIns="0" rtlCol="0" anchor="ctr"/>
          <a:lstStyle/>
          <a:p>
            <a:pPr indent="0" marL="0">
              <a:buNone/>
            </a:pPr>
            <a:r>
              <a:rPr lang="en-US" sz="4800" b="1" dirty="0">
                <a:solidFill>
                  <a:srgbClr val="000000"/>
                </a:solidFill>
                <a:latin typeface="Calibri" pitchFamily="34" charset="0"/>
                <a:ea typeface="Calibri" pitchFamily="34" charset="-122"/>
                <a:cs typeface="Calibri" pitchFamily="34" charset="-120"/>
              </a:rPr>
              <a:t>Quantum Search Lab</a:t>
            </a:r>
            <a:endParaRPr lang="en-US" sz="4800" dirty="0"/>
          </a:p>
        </p:txBody>
      </p:sp>
      <p:sp>
        <p:nvSpPr>
          <p:cNvPr id="3" name="anim1"/>
          <p:cNvSpPr/>
          <p:nvPr/>
        </p:nvSpPr>
        <p:spPr>
          <a:xfrm>
            <a:off x="731520" y="2331720"/>
            <a:ext cx="6949440" cy="822960"/>
          </a:xfrm>
          <a:prstGeom prst="rect">
            <a:avLst/>
          </a:prstGeom>
          <a:noFill/>
          <a:ln/>
        </p:spPr>
        <p:txBody>
          <a:bodyPr wrap="square" lIns="0" tIns="0" rIns="0" bIns="0" rtlCol="0" anchor="t"/>
          <a:lstStyle/>
          <a:p>
            <a:pPr indent="0" marL="0">
              <a:buNone/>
            </a:pPr>
            <a:r>
              <a:rPr lang="en-US" sz="2200" dirty="0">
                <a:solidFill>
                  <a:srgbClr val="000000"/>
                </a:solidFill>
                <a:latin typeface="Calibri" pitchFamily="34" charset="0"/>
                <a:ea typeface="Calibri" pitchFamily="34" charset="-122"/>
                <a:cs typeface="Calibri" pitchFamily="34" charset="-120"/>
              </a:rPr>
              <a:t>An application-driven implementation and evaluation of Grover’s search algorithm</a:t>
            </a:r>
            <a:endParaRPr lang="en-US" sz="2200" dirty="0"/>
          </a:p>
        </p:txBody>
      </p:sp>
      <p:sp>
        <p:nvSpPr>
          <p:cNvPr id="4" name="anim2"/>
          <p:cNvSpPr/>
          <p:nvPr/>
        </p:nvSpPr>
        <p:spPr>
          <a:xfrm>
            <a:off x="731520" y="3931920"/>
            <a:ext cx="7315200" cy="274320"/>
          </a:xfrm>
          <a:prstGeom prst="rect">
            <a:avLst/>
          </a:prstGeom>
          <a:noFill/>
          <a:ln/>
        </p:spPr>
        <p:txBody>
          <a:bodyPr wrap="square" lIns="0" tIns="0" rIns="0" bIns="0" rtlCol="0" anchor="t"/>
          <a:lstStyle/>
          <a:p>
            <a:pPr indent="0" marL="0">
              <a:buNone/>
            </a:pPr>
            <a:r>
              <a:rPr lang="en-US" sz="1400" dirty="0">
                <a:solidFill>
                  <a:srgbClr val="000000"/>
                </a:solidFill>
                <a:latin typeface="Calibri" pitchFamily="34" charset="0"/>
                <a:ea typeface="Calibri" pitchFamily="34" charset="-122"/>
                <a:cs typeface="Calibri" pitchFamily="34" charset="-120"/>
              </a:rPr>
              <a:t>Quantum Computing  ·  Course project</a:t>
            </a:r>
            <a:endParaRPr lang="en-US" sz="1400" dirty="0"/>
          </a:p>
        </p:txBody>
      </p:sp>
      <p:sp>
        <p:nvSpPr>
          <p:cNvPr id="5" name="anim2"/>
          <p:cNvSpPr/>
          <p:nvPr/>
        </p:nvSpPr>
        <p:spPr>
          <a:xfrm>
            <a:off x="731520" y="4251960"/>
            <a:ext cx="7315200" cy="274320"/>
          </a:xfrm>
          <a:prstGeom prst="rect">
            <a:avLst/>
          </a:prstGeom>
          <a:noFill/>
          <a:ln/>
        </p:spPr>
        <p:txBody>
          <a:bodyPr wrap="square" lIns="0" tIns="0" rIns="0" bIns="0" rtlCol="0" anchor="t"/>
          <a:lstStyle/>
          <a:p>
            <a:pPr indent="0" marL="0">
              <a:buNone/>
            </a:pPr>
            <a:r>
              <a:rPr lang="en-US" sz="1400" dirty="0">
                <a:solidFill>
                  <a:srgbClr val="000000"/>
                </a:solidFill>
                <a:latin typeface="Calibri" pitchFamily="34" charset="0"/>
                <a:ea typeface="Calibri" pitchFamily="34" charset="-122"/>
                <a:cs typeface="Calibri" pitchFamily="34" charset="-120"/>
              </a:rPr>
              <a:t>Kavin-JS.github.io/GrovX</a:t>
            </a:r>
            <a:endParaRPr lang="en-US" sz="1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5" grpId="0"/>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itle"/>
          <p:cNvSpPr/>
          <p:nvPr/>
        </p:nvSpPr>
        <p:spPr>
          <a:xfrm>
            <a:off x="548640" y="320040"/>
            <a:ext cx="8046720" cy="640080"/>
          </a:xfrm>
          <a:prstGeom prst="rect">
            <a:avLst/>
          </a:prstGeom>
          <a:noFill/>
          <a:ln/>
        </p:spPr>
        <p:txBody>
          <a:bodyPr wrap="square" lIns="0" tIns="0" rIns="0" bIns="0" rtlCol="0" anchor="ctr"/>
          <a:lstStyle/>
          <a:p>
            <a:pPr indent="0" marL="0">
              <a:buNone/>
            </a:pPr>
            <a:r>
              <a:rPr lang="en-US" sz="3000" b="1" dirty="0">
                <a:solidFill>
                  <a:srgbClr val="000000"/>
                </a:solidFill>
                <a:latin typeface="Calibri" pitchFamily="34" charset="0"/>
                <a:ea typeface="Calibri" pitchFamily="34" charset="-122"/>
                <a:cs typeface="Calibri" pitchFamily="34" charset="-120"/>
              </a:rPr>
              <a:t>The problem: one item among N</a:t>
            </a:r>
            <a:endParaRPr lang="en-US" sz="3000" dirty="0"/>
          </a:p>
        </p:txBody>
      </p:sp>
      <p:sp>
        <p:nvSpPr>
          <p:cNvPr id="3" name="anim1"/>
          <p:cNvSpPr/>
          <p:nvPr/>
        </p:nvSpPr>
        <p:spPr>
          <a:xfrm>
            <a:off x="548640" y="1371600"/>
            <a:ext cx="4297680" cy="2926080"/>
          </a:xfrm>
          <a:prstGeom prst="rect">
            <a:avLst/>
          </a:prstGeom>
          <a:noFill/>
          <a:ln/>
        </p:spPr>
        <p:txBody>
          <a:bodyPr wrap="square" lIns="0" tIns="0" rIns="0" bIns="0" rtlCol="0" anchor="t"/>
          <a:lstStyle/>
          <a:p>
            <a:pPr marL="228600" indent="-228600">
              <a:spcAft>
                <a:spcPts val="1400"/>
              </a:spcAft>
              <a:buSzPct val="100000"/>
              <a:buChar char="•"/>
            </a:pPr>
            <a:r>
              <a:rPr lang="en-US" sz="2000" dirty="0">
                <a:solidFill>
                  <a:srgbClr val="000000"/>
                </a:solidFill>
                <a:latin typeface="Calibri" pitchFamily="34" charset="0"/>
                <a:ea typeface="Calibri" pitchFamily="34" charset="-122"/>
                <a:cs typeface="Calibri" pitchFamily="34" charset="-120"/>
              </a:rPr>
              <a:t>Find one secret item among N = 2ⁿ candidates</a:t>
            </a:r>
            <a:endParaRPr lang="en-US" sz="2000" dirty="0"/>
          </a:p>
          <a:p>
            <a:pPr marL="228600" indent="-228600">
              <a:spcAft>
                <a:spcPts val="1400"/>
              </a:spcAft>
              <a:buSzPct val="100000"/>
              <a:buChar char="•"/>
            </a:pPr>
            <a:r>
              <a:rPr lang="en-US" sz="2000" dirty="0">
                <a:solidFill>
                  <a:srgbClr val="000000"/>
                </a:solidFill>
                <a:latin typeface="Calibri" pitchFamily="34" charset="0"/>
                <a:ea typeface="Calibri" pitchFamily="34" charset="-122"/>
                <a:cs typeface="Calibri" pitchFamily="34" charset="-120"/>
              </a:rPr>
              <a:t>The only tool is a yes/no check: an unlock code, a database record, a cipher key</a:t>
            </a:r>
            <a:endParaRPr lang="en-US" sz="2000" dirty="0"/>
          </a:p>
          <a:p>
            <a:pPr marL="228600" indent="-228600">
              <a:buSzPct val="100000"/>
              <a:buChar char="•"/>
            </a:pPr>
            <a:r>
              <a:rPr lang="en-US" sz="2000" dirty="0">
                <a:solidFill>
                  <a:srgbClr val="000000"/>
                </a:solidFill>
                <a:latin typeface="Calibri" pitchFamily="34" charset="0"/>
                <a:ea typeface="Calibri" pitchFamily="34" charset="-122"/>
                <a:cs typeface="Calibri" pitchFamily="34" charset="-120"/>
              </a:rPr>
              <a:t>No order and no structure to exploit</a:t>
            </a:r>
            <a:endParaRPr lang="en-US" sz="2000" dirty="0"/>
          </a:p>
        </p:txBody>
      </p:sp>
      <p:sp>
        <p:nvSpPr>
          <p:cNvPr id="4" name="anim2"/>
          <p:cNvSpPr/>
          <p:nvPr/>
        </p:nvSpPr>
        <p:spPr>
          <a:xfrm>
            <a:off x="5303520" y="1371600"/>
            <a:ext cx="3291840" cy="274320"/>
          </a:xfrm>
          <a:prstGeom prst="rect">
            <a:avLst/>
          </a:prstGeom>
          <a:noFill/>
          <a:ln/>
        </p:spPr>
        <p:txBody>
          <a:bodyPr wrap="square" lIns="0" tIns="0" rIns="0" bIns="0" rtlCol="0" anchor="t"/>
          <a:lstStyle/>
          <a:p>
            <a:pPr indent="0" marL="0">
              <a:buNone/>
            </a:pPr>
            <a:r>
              <a:rPr lang="en-US" sz="1400" dirty="0">
                <a:solidFill>
                  <a:srgbClr val="000000"/>
                </a:solidFill>
                <a:latin typeface="Calibri" pitchFamily="34" charset="0"/>
                <a:ea typeface="Calibri" pitchFamily="34" charset="-122"/>
                <a:cs typeface="Calibri" pitchFamily="34" charset="-120"/>
              </a:rPr>
              <a:t>Classical linear search</a:t>
            </a:r>
            <a:endParaRPr lang="en-US" sz="1400" dirty="0"/>
          </a:p>
        </p:txBody>
      </p:sp>
      <p:sp>
        <p:nvSpPr>
          <p:cNvPr id="5" name="anim2"/>
          <p:cNvSpPr/>
          <p:nvPr/>
        </p:nvSpPr>
        <p:spPr>
          <a:xfrm>
            <a:off x="5303520" y="1691640"/>
            <a:ext cx="3291840" cy="548640"/>
          </a:xfrm>
          <a:prstGeom prst="rect">
            <a:avLst/>
          </a:prstGeom>
          <a:noFill/>
          <a:ln/>
        </p:spPr>
        <p:txBody>
          <a:bodyPr wrap="square" lIns="0" tIns="0" rIns="0" bIns="0" rtlCol="0" anchor="ctr"/>
          <a:lstStyle/>
          <a:p>
            <a:pPr indent="0" marL="0">
              <a:buNone/>
            </a:pPr>
            <a:r>
              <a:rPr lang="en-US" sz="3200" b="1" dirty="0">
                <a:solidFill>
                  <a:srgbClr val="000000"/>
                </a:solidFill>
                <a:latin typeface="Calibri" pitchFamily="34" charset="0"/>
                <a:ea typeface="Calibri" pitchFamily="34" charset="-122"/>
                <a:cs typeface="Calibri" pitchFamily="34" charset="-120"/>
              </a:rPr>
              <a:t>≈ N / 2 checks</a:t>
            </a:r>
            <a:endParaRPr lang="en-US" sz="3200" dirty="0"/>
          </a:p>
        </p:txBody>
      </p:sp>
      <p:sp>
        <p:nvSpPr>
          <p:cNvPr id="6" name="anim3"/>
          <p:cNvSpPr/>
          <p:nvPr/>
        </p:nvSpPr>
        <p:spPr>
          <a:xfrm>
            <a:off x="5303520" y="2743200"/>
            <a:ext cx="3291840" cy="274320"/>
          </a:xfrm>
          <a:prstGeom prst="rect">
            <a:avLst/>
          </a:prstGeom>
          <a:noFill/>
          <a:ln/>
        </p:spPr>
        <p:txBody>
          <a:bodyPr wrap="square" lIns="0" tIns="0" rIns="0" bIns="0" rtlCol="0" anchor="t"/>
          <a:lstStyle/>
          <a:p>
            <a:pPr indent="0" marL="0">
              <a:buNone/>
            </a:pPr>
            <a:r>
              <a:rPr lang="en-US" sz="1400" dirty="0">
                <a:solidFill>
                  <a:srgbClr val="000000"/>
                </a:solidFill>
                <a:latin typeface="Calibri" pitchFamily="34" charset="0"/>
                <a:ea typeface="Calibri" pitchFamily="34" charset="-122"/>
                <a:cs typeface="Calibri" pitchFamily="34" charset="-120"/>
              </a:rPr>
              <a:t>Grover’s algorithm</a:t>
            </a:r>
            <a:endParaRPr lang="en-US" sz="1400" dirty="0"/>
          </a:p>
        </p:txBody>
      </p:sp>
      <p:sp>
        <p:nvSpPr>
          <p:cNvPr id="7" name="anim3"/>
          <p:cNvSpPr/>
          <p:nvPr/>
        </p:nvSpPr>
        <p:spPr>
          <a:xfrm>
            <a:off x="5303520" y="3063240"/>
            <a:ext cx="3291840" cy="548640"/>
          </a:xfrm>
          <a:prstGeom prst="rect">
            <a:avLst/>
          </a:prstGeom>
          <a:noFill/>
          <a:ln/>
        </p:spPr>
        <p:txBody>
          <a:bodyPr wrap="square" lIns="0" tIns="0" rIns="0" bIns="0" rtlCol="0" anchor="ctr"/>
          <a:lstStyle/>
          <a:p>
            <a:pPr indent="0" marL="0">
              <a:buNone/>
            </a:pPr>
            <a:r>
              <a:rPr lang="en-US" sz="3200" b="1" dirty="0">
                <a:solidFill>
                  <a:srgbClr val="000000"/>
                </a:solidFill>
                <a:latin typeface="Calibri" pitchFamily="34" charset="0"/>
                <a:ea typeface="Calibri" pitchFamily="34" charset="-122"/>
                <a:cs typeface="Calibri" pitchFamily="34" charset="-120"/>
              </a:rPr>
              <a:t>≈ 0.785·√N queries</a:t>
            </a:r>
            <a:endParaRPr lang="en-US" sz="3200" dirty="0"/>
          </a:p>
        </p:txBody>
      </p:sp>
      <p:sp>
        <p:nvSpPr>
          <p:cNvPr id="8" name="anim4"/>
          <p:cNvSpPr/>
          <p:nvPr/>
        </p:nvSpPr>
        <p:spPr>
          <a:xfrm>
            <a:off x="5303520" y="3931920"/>
            <a:ext cx="3291840" cy="548640"/>
          </a:xfrm>
          <a:prstGeom prst="rect">
            <a:avLst/>
          </a:prstGeom>
          <a:noFill/>
          <a:ln/>
        </p:spPr>
        <p:txBody>
          <a:bodyPr wrap="square" lIns="0" tIns="0" rIns="0" bIns="0" rtlCol="0" anchor="t"/>
          <a:lstStyle/>
          <a:p>
            <a:pPr indent="0" marL="0">
              <a:buNone/>
            </a:pPr>
            <a:r>
              <a:rPr lang="en-US" sz="1400" i="1" dirty="0">
                <a:solidFill>
                  <a:srgbClr val="000000"/>
                </a:solidFill>
                <a:latin typeface="Calibri" pitchFamily="34" charset="0"/>
                <a:ea typeface="Calibri" pitchFamily="34" charset="-122"/>
                <a:cs typeface="Calibri" pitchFamily="34" charset="-120"/>
              </a:rPr>
              <a:t>A quadratic reduction, not an exponential one.</a:t>
            </a:r>
            <a:endParaRPr lang="en-US" sz="14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00000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p:tgtEl>
                                          <p:spTgt spid="5"/>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500"/>
                                        <p:tgtEl>
                                          <p:spTgt spid="7"/>
                                        </p:tgtEl>
                                      </p:cBhvr>
                                    </p:animEffect>
                                  </p:childTnLst>
                                </p:cTn>
                              </p:par>
                            </p:childTnLst>
                          </p:cTn>
                        </p:par>
                        <p:par>
                          <p:cTn id="22" fill="hold">
                            <p:stCondLst>
                              <p:cond delay="1500"/>
                            </p:stCondLst>
                            <p:childTnLst>
                              <p:par>
                                <p:cTn id="23" presetID="10" presetClass="entr" presetSubtype="0" fill="hold" grpId="0" nodeType="after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5" grpId="0"/>
      <p:bldP spid="6" grpId="0"/>
      <p:bldP spid="7" grpId="0"/>
      <p:bldP spid="8" grpId="0"/>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itle"/>
          <p:cNvSpPr/>
          <p:nvPr/>
        </p:nvSpPr>
        <p:spPr>
          <a:xfrm>
            <a:off x="548640" y="320040"/>
            <a:ext cx="8046720" cy="640080"/>
          </a:xfrm>
          <a:prstGeom prst="rect">
            <a:avLst/>
          </a:prstGeom>
          <a:noFill/>
          <a:ln/>
        </p:spPr>
        <p:txBody>
          <a:bodyPr wrap="square" lIns="0" tIns="0" rIns="0" bIns="0" rtlCol="0" anchor="ctr"/>
          <a:lstStyle/>
          <a:p>
            <a:pPr indent="0" marL="0">
              <a:buNone/>
            </a:pPr>
            <a:r>
              <a:rPr lang="en-US" sz="3000" b="1" dirty="0">
                <a:solidFill>
                  <a:srgbClr val="000000"/>
                </a:solidFill>
                <a:latin typeface="Calibri" pitchFamily="34" charset="0"/>
                <a:ea typeface="Calibri" pitchFamily="34" charset="-122"/>
                <a:cs typeface="Calibri" pitchFamily="34" charset="-120"/>
              </a:rPr>
              <a:t>How Grover’s algorithm works</a:t>
            </a:r>
            <a:endParaRPr lang="en-US" sz="3000" dirty="0"/>
          </a:p>
        </p:txBody>
      </p:sp>
      <p:sp>
        <p:nvSpPr>
          <p:cNvPr id="3" name="anim1"/>
          <p:cNvSpPr/>
          <p:nvPr/>
        </p:nvSpPr>
        <p:spPr>
          <a:xfrm>
            <a:off x="548640" y="1371600"/>
            <a:ext cx="4206240" cy="310896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1900" dirty="0">
                <a:solidFill>
                  <a:srgbClr val="000000"/>
                </a:solidFill>
                <a:latin typeface="Calibri" pitchFamily="34" charset="0"/>
                <a:ea typeface="Calibri" pitchFamily="34" charset="-122"/>
                <a:cs typeface="Calibri" pitchFamily="34" charset="-120"/>
              </a:rPr>
              <a:t>Put all N items in superposition with Hadamard gates</a:t>
            </a:r>
            <a:endParaRPr lang="en-US" sz="1900" dirty="0"/>
          </a:p>
          <a:p>
            <a:pPr marL="342900" indent="-342900">
              <a:spcAft>
                <a:spcPts val="1200"/>
              </a:spcAft>
              <a:buSzPct val="100000"/>
              <a:buFont typeface="+mj-lt"/>
              <a:buAutoNum type="arabicPeriod" startAt="1"/>
            </a:pPr>
            <a:r>
              <a:rPr lang="en-US" sz="1900" dirty="0">
                <a:solidFill>
                  <a:srgbClr val="000000"/>
                </a:solidFill>
                <a:latin typeface="Calibri" pitchFamily="34" charset="0"/>
                <a:ea typeface="Calibri" pitchFamily="34" charset="-122"/>
                <a:cs typeface="Calibri" pitchFamily="34" charset="-120"/>
              </a:rPr>
              <a:t>Oracle: flip the sign of the secret item</a:t>
            </a:r>
            <a:endParaRPr lang="en-US" sz="1900" dirty="0"/>
          </a:p>
          <a:p>
            <a:pPr marL="342900" indent="-342900">
              <a:spcAft>
                <a:spcPts val="1200"/>
              </a:spcAft>
              <a:buSzPct val="100000"/>
              <a:buFont typeface="+mj-lt"/>
              <a:buAutoNum type="arabicPeriod" startAt="1"/>
            </a:pPr>
            <a:r>
              <a:rPr lang="en-US" sz="1900" dirty="0">
                <a:solidFill>
                  <a:srgbClr val="000000"/>
                </a:solidFill>
                <a:latin typeface="Calibri" pitchFamily="34" charset="0"/>
                <a:ea typeface="Calibri" pitchFamily="34" charset="-122"/>
                <a:cs typeface="Calibri" pitchFamily="34" charset="-120"/>
              </a:rPr>
              <a:t>Diffusion: reflect all amplitudes about their mean</a:t>
            </a:r>
            <a:endParaRPr lang="en-US" sz="1900" dirty="0"/>
          </a:p>
          <a:p>
            <a:pPr marL="342900" indent="-342900">
              <a:buSzPct val="100000"/>
              <a:buFont typeface="+mj-lt"/>
              <a:buAutoNum type="arabicPeriod" startAt="1"/>
            </a:pPr>
            <a:r>
              <a:rPr lang="en-US" sz="1900" dirty="0">
                <a:solidFill>
                  <a:srgbClr val="000000"/>
                </a:solidFill>
                <a:latin typeface="Calibri" pitchFamily="34" charset="0"/>
                <a:ea typeface="Calibri" pitchFamily="34" charset="-122"/>
                <a:cs typeface="Calibri" pitchFamily="34" charset="-120"/>
              </a:rPr>
              <a:t>Repeat about (π/4)√N times, then measure</a:t>
            </a:r>
            <a:endParaRPr lang="en-US" sz="1900" dirty="0"/>
          </a:p>
        </p:txBody>
      </p:sp>
      <p:pic>
        <p:nvPicPr>
          <p:cNvPr id="4" name="anim2" descr="fig_rotation.png">    </p:cNvPr>
          <p:cNvPicPr>
            <a:picLocks noChangeAspect="1"/>
          </p:cNvPicPr>
          <p:nvPr/>
        </p:nvPicPr>
        <p:blipFill>
          <a:blip r:embed="rId1"/>
          <a:stretch>
            <a:fillRect/>
          </a:stretch>
        </p:blipFill>
        <p:spPr>
          <a:xfrm>
            <a:off x="4937760" y="1325880"/>
            <a:ext cx="3749040" cy="2369929"/>
          </a:xfrm>
          <a:prstGeom prst="rect">
            <a:avLst/>
          </a:prstGeom>
        </p:spPr>
      </p:pic>
      <p:sp>
        <p:nvSpPr>
          <p:cNvPr id="5" name="anim3"/>
          <p:cNvSpPr/>
          <p:nvPr/>
        </p:nvSpPr>
        <p:spPr>
          <a:xfrm>
            <a:off x="4937760" y="3805537"/>
            <a:ext cx="3749040" cy="457200"/>
          </a:xfrm>
          <a:prstGeom prst="rect">
            <a:avLst/>
          </a:prstGeom>
          <a:noFill/>
          <a:ln/>
        </p:spPr>
        <p:txBody>
          <a:bodyPr wrap="square" lIns="0" tIns="0" rIns="0" bIns="0" rtlCol="0" anchor="t"/>
          <a:lstStyle/>
          <a:p>
            <a:pPr indent="0" marL="0">
              <a:buNone/>
            </a:pPr>
            <a:r>
              <a:rPr lang="en-US" sz="1200" dirty="0">
                <a:solidFill>
                  <a:srgbClr val="000000"/>
                </a:solidFill>
                <a:latin typeface="Calibri" pitchFamily="34" charset="0"/>
                <a:ea typeface="Calibri" pitchFamily="34" charset="-122"/>
                <a:cs typeface="Calibri" pitchFamily="34" charset="-120"/>
              </a:rPr>
              <a:t>Success probability after k iterations: P = sin²((2k+1)θ)</a:t>
            </a:r>
            <a:endParaRPr lang="en-US" sz="12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00000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5" grpId="0"/>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itle"/>
          <p:cNvSpPr/>
          <p:nvPr/>
        </p:nvSpPr>
        <p:spPr>
          <a:xfrm>
            <a:off x="548640" y="320040"/>
            <a:ext cx="8046720" cy="640080"/>
          </a:xfrm>
          <a:prstGeom prst="rect">
            <a:avLst/>
          </a:prstGeom>
          <a:noFill/>
          <a:ln/>
        </p:spPr>
        <p:txBody>
          <a:bodyPr wrap="square" lIns="0" tIns="0" rIns="0" bIns="0" rtlCol="0" anchor="ctr"/>
          <a:lstStyle/>
          <a:p>
            <a:pPr indent="0" marL="0">
              <a:buNone/>
            </a:pPr>
            <a:r>
              <a:rPr lang="en-US" sz="3000" b="1" dirty="0">
                <a:solidFill>
                  <a:srgbClr val="000000"/>
                </a:solidFill>
                <a:latin typeface="Calibri" pitchFamily="34" charset="0"/>
                <a:ea typeface="Calibri" pitchFamily="34" charset="-122"/>
                <a:cs typeface="Calibri" pitchFamily="34" charset="-120"/>
              </a:rPr>
              <a:t>The circuit I implemented</a:t>
            </a:r>
            <a:endParaRPr lang="en-US" sz="3000" dirty="0"/>
          </a:p>
        </p:txBody>
      </p:sp>
      <p:pic>
        <p:nvPicPr>
          <p:cNvPr id="3" name="anim1" descr="fig_circuit_gates.png">    </p:cNvPr>
          <p:cNvPicPr>
            <a:picLocks noChangeAspect="1"/>
          </p:cNvPicPr>
          <p:nvPr/>
        </p:nvPicPr>
        <p:blipFill>
          <a:blip r:embed="rId1"/>
          <a:stretch>
            <a:fillRect/>
          </a:stretch>
        </p:blipFill>
        <p:spPr>
          <a:xfrm>
            <a:off x="548640" y="1188720"/>
            <a:ext cx="8046720" cy="2542136"/>
          </a:xfrm>
          <a:prstGeom prst="rect">
            <a:avLst/>
          </a:prstGeom>
        </p:spPr>
      </p:pic>
      <p:sp>
        <p:nvSpPr>
          <p:cNvPr id="4" name="anim2"/>
          <p:cNvSpPr/>
          <p:nvPr/>
        </p:nvSpPr>
        <p:spPr>
          <a:xfrm>
            <a:off x="548640" y="4005176"/>
            <a:ext cx="8046720" cy="91440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Only three gates: Hadamard, Pauli-X and multi-controlled Z, so the simulation is exact</a:t>
            </a:r>
            <a:endParaRPr lang="en-US" sz="1600" dirty="0"/>
          </a:p>
          <a:p>
            <a:pPr marL="228600" indent="-228600">
              <a:buSzPct val="100000"/>
              <a:buChar char="•"/>
            </a:pPr>
            <a:r>
              <a:rPr lang="en-US" sz="1600" dirty="0">
                <a:solidFill>
                  <a:srgbClr val="000000"/>
                </a:solidFill>
                <a:latin typeface="Calibri" pitchFamily="34" charset="0"/>
                <a:ea typeface="Calibri" pitchFamily="34" charset="-122"/>
                <a:cs typeface="Calibri" pitchFamily="34" charset="-120"/>
              </a:rPr>
              <a:t>At n = 14: 100 iterations, 2,814 H, 4,200 X and 200 multi-controlled Z gates</a:t>
            </a:r>
            <a:endParaRPr lang="en-US" sz="16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00000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itle"/>
          <p:cNvSpPr/>
          <p:nvPr/>
        </p:nvSpPr>
        <p:spPr>
          <a:xfrm>
            <a:off x="548640" y="320040"/>
            <a:ext cx="8046720" cy="640080"/>
          </a:xfrm>
          <a:prstGeom prst="rect">
            <a:avLst/>
          </a:prstGeom>
          <a:noFill/>
          <a:ln/>
        </p:spPr>
        <p:txBody>
          <a:bodyPr wrap="square" lIns="0" tIns="0" rIns="0" bIns="0" rtlCol="0" anchor="ctr"/>
          <a:lstStyle/>
          <a:p>
            <a:pPr indent="0" marL="0">
              <a:buNone/>
            </a:pPr>
            <a:r>
              <a:rPr lang="en-US" sz="3000" b="1" dirty="0">
                <a:solidFill>
                  <a:srgbClr val="000000"/>
                </a:solidFill>
                <a:latin typeface="Calibri" pitchFamily="34" charset="0"/>
                <a:ea typeface="Calibri" pitchFamily="34" charset="-122"/>
                <a:cs typeface="Calibri" pitchFamily="34" charset="-120"/>
              </a:rPr>
              <a:t>System and verification</a:t>
            </a:r>
            <a:endParaRPr lang="en-US" sz="3000" dirty="0"/>
          </a:p>
        </p:txBody>
      </p:sp>
      <p:pic>
        <p:nvPicPr>
          <p:cNvPr id="3" name="anim1" descr="fig_arch.png">    </p:cNvPr>
          <p:cNvPicPr>
            <a:picLocks noChangeAspect="1"/>
          </p:cNvPicPr>
          <p:nvPr/>
        </p:nvPicPr>
        <p:blipFill>
          <a:blip r:embed="rId1"/>
          <a:stretch>
            <a:fillRect/>
          </a:stretch>
        </p:blipFill>
        <p:spPr>
          <a:xfrm>
            <a:off x="548640" y="1371600"/>
            <a:ext cx="5212080" cy="2271653"/>
          </a:xfrm>
          <a:prstGeom prst="rect">
            <a:avLst/>
          </a:prstGeom>
        </p:spPr>
      </p:pic>
      <p:sp>
        <p:nvSpPr>
          <p:cNvPr id="4" name="anim2"/>
          <p:cNvSpPr/>
          <p:nvPr/>
        </p:nvSpPr>
        <p:spPr>
          <a:xfrm>
            <a:off x="6035040" y="1371600"/>
            <a:ext cx="2651760" cy="292608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000000"/>
                </a:solidFill>
                <a:latin typeface="Calibri" pitchFamily="34" charset="0"/>
                <a:ea typeface="Calibri" pitchFamily="34" charset="-122"/>
                <a:cs typeface="Calibri" pitchFamily="34" charset="-120"/>
              </a:rPr>
              <a:t>Runs entirely in the browser</a:t>
            </a:r>
            <a:endParaRPr lang="en-US" sz="1600" dirty="0"/>
          </a:p>
          <a:p>
            <a:pPr marL="228600" indent="-228600">
              <a:spcAft>
                <a:spcPts val="1000"/>
              </a:spcAft>
              <a:buSzPct val="100000"/>
              <a:buChar char="•"/>
            </a:pPr>
            <a:r>
              <a:rPr lang="en-US" sz="1600" dirty="0">
                <a:solidFill>
                  <a:srgbClr val="000000"/>
                </a:solidFill>
                <a:latin typeface="Calibri" pitchFamily="34" charset="0"/>
                <a:ea typeface="Calibri" pitchFamily="34" charset="-122"/>
                <a:cs typeface="Calibri" pitchFamily="34" charset="-120"/>
              </a:rPr>
              <a:t>React, Vite and GitHub Pages; no backend</a:t>
            </a:r>
            <a:endParaRPr lang="en-US" sz="1600" dirty="0"/>
          </a:p>
          <a:p>
            <a:pPr marL="228600" indent="-228600">
              <a:spcAft>
                <a:spcPts val="1000"/>
              </a:spcAft>
              <a:buSzPct val="100000"/>
              <a:buChar char="•"/>
            </a:pPr>
            <a:r>
              <a:rPr lang="en-US" sz="1600" dirty="0">
                <a:solidFill>
                  <a:srgbClr val="000000"/>
                </a:solidFill>
                <a:latin typeface="Calibri" pitchFamily="34" charset="0"/>
                <a:ea typeface="Calibri" pitchFamily="34" charset="-122"/>
                <a:cs typeface="Calibri" pitchFamily="34" charset="-120"/>
              </a:rPr>
              <a:t>12 automated tests</a:t>
            </a:r>
            <a:endParaRPr lang="en-US" sz="1600" dirty="0"/>
          </a:p>
          <a:p>
            <a:pPr marL="228600" indent="-228600">
              <a:buSzPct val="100000"/>
              <a:buChar char="•"/>
            </a:pPr>
            <a:r>
              <a:rPr lang="en-US" sz="1600" dirty="0">
                <a:solidFill>
                  <a:srgbClr val="000000"/>
                </a:solidFill>
                <a:latin typeface="Calibri" pitchFamily="34" charset="0"/>
                <a:ea typeface="Calibri" pitchFamily="34" charset="-122"/>
                <a:cs typeface="Calibri" pitchFamily="34" charset="-120"/>
              </a:rPr>
              <a:t>Simulation matches theory to 9 decimal places</a:t>
            </a:r>
            <a:endParaRPr lang="en-US" sz="16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00000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itle"/>
          <p:cNvSpPr/>
          <p:nvPr/>
        </p:nvSpPr>
        <p:spPr>
          <a:xfrm>
            <a:off x="548640" y="320040"/>
            <a:ext cx="8046720" cy="640080"/>
          </a:xfrm>
          <a:prstGeom prst="rect">
            <a:avLst/>
          </a:prstGeom>
          <a:noFill/>
          <a:ln/>
        </p:spPr>
        <p:txBody>
          <a:bodyPr wrap="square" lIns="0" tIns="0" rIns="0" bIns="0" rtlCol="0" anchor="ctr"/>
          <a:lstStyle/>
          <a:p>
            <a:pPr indent="0" marL="0">
              <a:buNone/>
            </a:pPr>
            <a:r>
              <a:rPr lang="en-US" sz="3000" b="1" dirty="0">
                <a:solidFill>
                  <a:srgbClr val="000000"/>
                </a:solidFill>
                <a:latin typeface="Calibri" pitchFamily="34" charset="0"/>
                <a:ea typeface="Calibri" pitchFamily="34" charset="-122"/>
                <a:cs typeface="Calibri" pitchFamily="34" charset="-120"/>
              </a:rPr>
              <a:t>The secret’s amplitude grows</a:t>
            </a:r>
            <a:endParaRPr lang="en-US" sz="3000" dirty="0"/>
          </a:p>
        </p:txBody>
      </p:sp>
      <p:pic>
        <p:nvPicPr>
          <p:cNvPr id="3" name="anim1" descr="fig_amps.png">    </p:cNvPr>
          <p:cNvPicPr>
            <a:picLocks noChangeAspect="1"/>
          </p:cNvPicPr>
          <p:nvPr/>
        </p:nvPicPr>
        <p:blipFill>
          <a:blip r:embed="rId1"/>
          <a:stretch>
            <a:fillRect/>
          </a:stretch>
        </p:blipFill>
        <p:spPr>
          <a:xfrm>
            <a:off x="548640" y="1188720"/>
            <a:ext cx="8046720" cy="2039543"/>
          </a:xfrm>
          <a:prstGeom prst="rect">
            <a:avLst/>
          </a:prstGeom>
        </p:spPr>
      </p:pic>
      <p:sp>
        <p:nvSpPr>
          <p:cNvPr id="4" name="anim2"/>
          <p:cNvSpPr/>
          <p:nvPr/>
        </p:nvSpPr>
        <p:spPr>
          <a:xfrm>
            <a:off x="548640" y="3383280"/>
            <a:ext cx="8046720" cy="822960"/>
          </a:xfrm>
          <a:prstGeom prst="rect">
            <a:avLst/>
          </a:prstGeom>
          <a:noFill/>
          <a:ln/>
        </p:spPr>
        <p:txBody>
          <a:bodyPr wrap="square" lIns="0" tIns="0" rIns="0" bIns="0" rtlCol="0" anchor="t"/>
          <a:lstStyle/>
          <a:p>
            <a:pPr indent="0" marL="0">
              <a:spcAft>
                <a:spcPts val="400"/>
              </a:spcAft>
              <a:buNone/>
            </a:pPr>
            <a:r>
              <a:rPr lang="en-US" sz="1400" dirty="0">
                <a:solidFill>
                  <a:srgbClr val="000000"/>
                </a:solidFill>
                <a:latin typeface="Calibri" pitchFamily="34" charset="0"/>
                <a:ea typeface="Calibri" pitchFamily="34" charset="-122"/>
                <a:cs typeface="Calibri" pitchFamily="34" charset="-120"/>
              </a:rPr>
              <a:t>Probability of measuring the secret (n = 5)</a:t>
            </a:r>
            <a:endParaRPr lang="en-US" sz="1400" dirty="0"/>
          </a:p>
          <a:p>
            <a:pPr indent="0" marL="0">
              <a:buNone/>
            </a:pPr>
            <a:r>
              <a:rPr lang="en-US" sz="2400" b="1" dirty="0">
                <a:solidFill>
                  <a:srgbClr val="000000"/>
                </a:solidFill>
                <a:latin typeface="Calibri" pitchFamily="34" charset="0"/>
                <a:ea typeface="Calibri" pitchFamily="34" charset="-122"/>
                <a:cs typeface="Calibri" pitchFamily="34" charset="-120"/>
              </a:rPr>
              <a:t>3.1%   →   25.8%   →   60.2%   →   89.7%   →   99.9%</a:t>
            </a:r>
            <a:endParaRPr lang="en-US" sz="1400" dirty="0"/>
          </a:p>
        </p:txBody>
      </p:sp>
      <p:sp>
        <p:nvSpPr>
          <p:cNvPr id="5" name="anim3"/>
          <p:cNvSpPr/>
          <p:nvPr/>
        </p:nvSpPr>
        <p:spPr>
          <a:xfrm>
            <a:off x="548640" y="4297680"/>
            <a:ext cx="8046720" cy="320040"/>
          </a:xfrm>
          <a:prstGeom prst="rect">
            <a:avLst/>
          </a:prstGeom>
          <a:noFill/>
          <a:ln/>
        </p:spPr>
        <p:txBody>
          <a:bodyPr wrap="square" lIns="0" tIns="0" rIns="0" bIns="0" rtlCol="0" anchor="t"/>
          <a:lstStyle/>
          <a:p>
            <a:pPr indent="0" marL="0">
              <a:buNone/>
            </a:pPr>
            <a:r>
              <a:rPr lang="en-US" sz="1600" dirty="0">
                <a:solidFill>
                  <a:srgbClr val="000000"/>
                </a:solidFill>
                <a:latin typeface="Calibri" pitchFamily="34" charset="0"/>
                <a:ea typeface="Calibri" pitchFamily="34" charset="-122"/>
                <a:cs typeface="Calibri" pitchFamily="34" charset="-120"/>
              </a:rPr>
              <a:t>Four iterations, against 16.5 classical guesses on average.</a:t>
            </a:r>
            <a:endParaRPr lang="en-US" sz="16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00000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itle"/>
          <p:cNvSpPr/>
          <p:nvPr/>
        </p:nvSpPr>
        <p:spPr>
          <a:xfrm>
            <a:off x="548640" y="320040"/>
            <a:ext cx="8046720" cy="640080"/>
          </a:xfrm>
          <a:prstGeom prst="rect">
            <a:avLst/>
          </a:prstGeom>
          <a:noFill/>
          <a:ln/>
        </p:spPr>
        <p:txBody>
          <a:bodyPr wrap="square" lIns="0" tIns="0" rIns="0" bIns="0" rtlCol="0" anchor="ctr"/>
          <a:lstStyle/>
          <a:p>
            <a:pPr indent="0" marL="0">
              <a:buNone/>
            </a:pPr>
            <a:r>
              <a:rPr lang="en-US" sz="3000" b="1" dirty="0">
                <a:solidFill>
                  <a:srgbClr val="000000"/>
                </a:solidFill>
                <a:latin typeface="Calibri" pitchFamily="34" charset="0"/>
                <a:ea typeface="Calibri" pitchFamily="34" charset="-122"/>
                <a:cs typeface="Calibri" pitchFamily="34" charset="-120"/>
              </a:rPr>
              <a:t>Queries: a quadratic reduction</a:t>
            </a:r>
            <a:endParaRPr lang="en-US" sz="3000" dirty="0"/>
          </a:p>
        </p:txBody>
      </p:sp>
      <p:graphicFrame>
        <p:nvGraphicFramePr>
          <p:cNvPr id="3" name="anim1" descr=""/>
          <p:cNvGraphicFramePr/>
          <p:nvPr/>
        </p:nvGraphicFramePr>
        <p:xfrm>
          <a:off x="457200" y="1097280"/>
          <a:ext cx="5394960" cy="3566160"/>
        </p:xfrm>
        <a:graphic xmlns:a="http://schemas.openxmlformats.org/drawingml/2006/main">
          <a:graphicData uri="http://schemas.openxmlformats.org/drawingml/2006/chart">
            <c:chart xmlns:c="http://schemas.openxmlformats.org/drawingml/2006/chart" r:id="rId1"/>
          </a:graphicData>
        </a:graphic>
      </p:graphicFrame>
      <p:sp>
        <p:nvSpPr>
          <p:cNvPr id="4" name="anim2"/>
          <p:cNvSpPr/>
          <p:nvPr/>
        </p:nvSpPr>
        <p:spPr>
          <a:xfrm>
            <a:off x="6217920" y="1280160"/>
            <a:ext cx="2468880" cy="3291840"/>
          </a:xfrm>
          <a:prstGeom prst="rect">
            <a:avLst/>
          </a:prstGeom>
          <a:noFill/>
          <a:ln/>
        </p:spPr>
        <p:txBody>
          <a:bodyPr wrap="square" lIns="0" tIns="0" rIns="0" bIns="0" rtlCol="0" anchor="t"/>
          <a:lstStyle/>
          <a:p>
            <a:pPr indent="0" marL="0">
              <a:buNone/>
            </a:pPr>
            <a:r>
              <a:rPr lang="en-US" sz="2600" b="1" dirty="0">
                <a:solidFill>
                  <a:srgbClr val="000000"/>
                </a:solidFill>
                <a:latin typeface="Calibri" pitchFamily="34" charset="0"/>
                <a:ea typeface="Calibri" pitchFamily="34" charset="-122"/>
                <a:cs typeface="Calibri" pitchFamily="34" charset="-120"/>
              </a:rPr>
              <a:t>82×</a:t>
            </a:r>
            <a:endParaRPr lang="en-US" sz="2600" dirty="0"/>
          </a:p>
          <a:p>
            <a:pPr indent="0" marL="0">
              <a:spcAft>
                <a:spcPts val="1600"/>
              </a:spcAft>
              <a:buNone/>
            </a:pPr>
            <a:r>
              <a:rPr lang="en-US" sz="1400" dirty="0">
                <a:solidFill>
                  <a:srgbClr val="000000"/>
                </a:solidFill>
                <a:latin typeface="Calibri" pitchFamily="34" charset="0"/>
                <a:ea typeface="Calibri" pitchFamily="34" charset="-122"/>
                <a:cs typeface="Calibri" pitchFamily="34" charset="-120"/>
              </a:rPr>
              <a:t>fewer queries at n = 14 (100 vs 8,199)</a:t>
            </a:r>
            <a:endParaRPr lang="en-US" sz="2600" dirty="0"/>
          </a:p>
          <a:p>
            <a:pPr indent="0" marL="0">
              <a:buNone/>
            </a:pPr>
            <a:r>
              <a:rPr lang="en-US" sz="2600" b="1" dirty="0">
                <a:solidFill>
                  <a:srgbClr val="000000"/>
                </a:solidFill>
                <a:latin typeface="Calibri" pitchFamily="34" charset="0"/>
                <a:ea typeface="Calibri" pitchFamily="34" charset="-122"/>
                <a:cs typeface="Calibri" pitchFamily="34" charset="-120"/>
              </a:rPr>
              <a:t>≈ 650×</a:t>
            </a:r>
            <a:endParaRPr lang="en-US" sz="2600" dirty="0"/>
          </a:p>
          <a:p>
            <a:pPr indent="0" marL="0">
              <a:spcAft>
                <a:spcPts val="1600"/>
              </a:spcAft>
              <a:buNone/>
            </a:pPr>
            <a:r>
              <a:rPr lang="en-US" sz="1400" dirty="0">
                <a:solidFill>
                  <a:srgbClr val="000000"/>
                </a:solidFill>
                <a:latin typeface="Calibri" pitchFamily="34" charset="0"/>
                <a:ea typeface="Calibri" pitchFamily="34" charset="-122"/>
                <a:cs typeface="Calibri" pitchFamily="34" charset="-120"/>
              </a:rPr>
              <a:t>at n = 20 (804 vs 524,288)</a:t>
            </a:r>
            <a:endParaRPr lang="en-US" sz="2600" dirty="0"/>
          </a:p>
          <a:p>
            <a:pPr indent="0" marL="0">
              <a:buNone/>
            </a:pPr>
            <a:r>
              <a:rPr lang="en-US" sz="2600" b="1" dirty="0">
                <a:solidFill>
                  <a:srgbClr val="000000"/>
                </a:solidFill>
                <a:latin typeface="Calibri" pitchFamily="34" charset="0"/>
                <a:ea typeface="Calibri" pitchFamily="34" charset="-122"/>
                <a:cs typeface="Calibri" pitchFamily="34" charset="-120"/>
              </a:rPr>
              <a:t>≥ 99.5%</a:t>
            </a:r>
            <a:endParaRPr lang="en-US" sz="2600" dirty="0"/>
          </a:p>
          <a:p>
            <a:pPr indent="0" marL="0">
              <a:buNone/>
            </a:pPr>
            <a:r>
              <a:rPr lang="en-US" sz="1400" dirty="0">
                <a:solidFill>
                  <a:srgbClr val="000000"/>
                </a:solidFill>
                <a:latin typeface="Calibri" pitchFamily="34" charset="0"/>
                <a:ea typeface="Calibri" pitchFamily="34" charset="-122"/>
                <a:cs typeface="Calibri" pitchFamily="34" charset="-120"/>
              </a:rPr>
              <a:t>success probability for every n ≥ 5</a:t>
            </a:r>
            <a:endParaRPr lang="en-US" sz="26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00000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itle"/>
          <p:cNvSpPr/>
          <p:nvPr/>
        </p:nvSpPr>
        <p:spPr>
          <a:xfrm>
            <a:off x="548640" y="320040"/>
            <a:ext cx="8046720" cy="640080"/>
          </a:xfrm>
          <a:prstGeom prst="rect">
            <a:avLst/>
          </a:prstGeom>
          <a:noFill/>
          <a:ln/>
        </p:spPr>
        <p:txBody>
          <a:bodyPr wrap="square" lIns="0" tIns="0" rIns="0" bIns="0" rtlCol="0" anchor="ctr"/>
          <a:lstStyle/>
          <a:p>
            <a:pPr indent="0" marL="0">
              <a:buNone/>
            </a:pPr>
            <a:r>
              <a:rPr lang="en-US" sz="3000" b="1" dirty="0">
                <a:solidFill>
                  <a:srgbClr val="000000"/>
                </a:solidFill>
                <a:latin typeface="Calibri" pitchFamily="34" charset="0"/>
                <a:ea typeface="Calibri" pitchFamily="34" charset="-122"/>
                <a:cs typeface="Calibri" pitchFamily="34" charset="-120"/>
              </a:rPr>
              <a:t>A simulator cannot show the speed-up</a:t>
            </a:r>
            <a:endParaRPr lang="en-US" sz="3000" dirty="0"/>
          </a:p>
        </p:txBody>
      </p:sp>
      <p:pic>
        <p:nvPicPr>
          <p:cNvPr id="3" name="anim1" descr="fig_time.png">    </p:cNvPr>
          <p:cNvPicPr>
            <a:picLocks noChangeAspect="1"/>
          </p:cNvPicPr>
          <p:nvPr/>
        </p:nvPicPr>
        <p:blipFill>
          <a:blip r:embed="rId1"/>
          <a:stretch>
            <a:fillRect/>
          </a:stretch>
        </p:blipFill>
        <p:spPr>
          <a:xfrm>
            <a:off x="548640" y="1280160"/>
            <a:ext cx="5029200" cy="2960914"/>
          </a:xfrm>
          <a:prstGeom prst="rect">
            <a:avLst/>
          </a:prstGeom>
        </p:spPr>
      </p:pic>
      <p:sp>
        <p:nvSpPr>
          <p:cNvPr id="4" name="anim1"/>
          <p:cNvSpPr/>
          <p:nvPr/>
        </p:nvSpPr>
        <p:spPr>
          <a:xfrm>
            <a:off x="548640" y="4332514"/>
            <a:ext cx="5029200" cy="274320"/>
          </a:xfrm>
          <a:prstGeom prst="rect">
            <a:avLst/>
          </a:prstGeom>
          <a:noFill/>
          <a:ln/>
        </p:spPr>
        <p:txBody>
          <a:bodyPr wrap="square" lIns="0" tIns="0" rIns="0" bIns="0" rtlCol="0" anchor="t"/>
          <a:lstStyle/>
          <a:p>
            <a:pPr indent="0" marL="0">
              <a:buNone/>
            </a:pPr>
            <a:r>
              <a:rPr lang="en-US" sz="1200" dirty="0">
                <a:solidFill>
                  <a:srgbClr val="000000"/>
                </a:solidFill>
                <a:latin typeface="Calibri" pitchFamily="34" charset="0"/>
                <a:ea typeface="Calibri" pitchFamily="34" charset="-122"/>
                <a:cs typeface="Calibri" pitchFamily="34" charset="-120"/>
              </a:rPr>
              <a:t>Wall-clock time on the same CPU (log scale)</a:t>
            </a:r>
            <a:endParaRPr lang="en-US" sz="1200" dirty="0"/>
          </a:p>
        </p:txBody>
      </p:sp>
      <p:sp>
        <p:nvSpPr>
          <p:cNvPr id="5" name="anim2"/>
          <p:cNvSpPr/>
          <p:nvPr/>
        </p:nvSpPr>
        <p:spPr>
          <a:xfrm>
            <a:off x="5943600" y="1371600"/>
            <a:ext cx="2743200" cy="3108960"/>
          </a:xfrm>
          <a:prstGeom prst="rect">
            <a:avLst/>
          </a:prstGeom>
          <a:noFill/>
          <a:ln/>
        </p:spPr>
        <p:txBody>
          <a:bodyPr wrap="square" lIns="0" tIns="0" rIns="0" bIns="0" rtlCol="0" anchor="t"/>
          <a:lstStyle/>
          <a:p>
            <a:pPr marL="228600" indent="-228600">
              <a:spcAft>
                <a:spcPts val="1200"/>
              </a:spcAft>
              <a:buSzPct val="100000"/>
              <a:buChar char="•"/>
            </a:pPr>
            <a:r>
              <a:rPr lang="en-US" sz="1600" dirty="0">
                <a:solidFill>
                  <a:srgbClr val="000000"/>
                </a:solidFill>
                <a:latin typeface="Calibri" pitchFamily="34" charset="0"/>
                <a:ea typeface="Calibri" pitchFamily="34" charset="-122"/>
                <a:cs typeface="Calibri" pitchFamily="34" charset="-120"/>
              </a:rPr>
              <a:t>Simulating Grover is more than 3,000× slower than classical search at n = 14</a:t>
            </a:r>
            <a:endParaRPr lang="en-US" sz="1600" dirty="0"/>
          </a:p>
          <a:p>
            <a:pPr marL="228600" indent="-228600">
              <a:spcAft>
                <a:spcPts val="1200"/>
              </a:spcAft>
              <a:buSzPct val="100000"/>
              <a:buChar char="•"/>
            </a:pPr>
            <a:r>
              <a:rPr lang="en-US" sz="1600" dirty="0">
                <a:solidFill>
                  <a:srgbClr val="000000"/>
                </a:solidFill>
                <a:latin typeface="Calibri" pitchFamily="34" charset="0"/>
                <a:ea typeface="Calibri" pitchFamily="34" charset="-122"/>
                <a:cs typeface="Calibri" pitchFamily="34" charset="-120"/>
              </a:rPr>
              <a:t>A simulator does 2ⁿ operations for every gate</a:t>
            </a:r>
            <a:endParaRPr lang="en-US" sz="1600" dirty="0"/>
          </a:p>
          <a:p>
            <a:pPr marL="228600" indent="-228600">
              <a:buSzPct val="100000"/>
              <a:buChar char="•"/>
            </a:pPr>
            <a:r>
              <a:rPr lang="en-US" sz="1600" dirty="0">
                <a:solidFill>
                  <a:srgbClr val="000000"/>
                </a:solidFill>
                <a:latin typeface="Calibri" pitchFamily="34" charset="0"/>
                <a:ea typeface="Calibri" pitchFamily="34" charset="-122"/>
                <a:cs typeface="Calibri" pitchFamily="34" charset="-120"/>
              </a:rPr>
              <a:t>Only quantum hardware can turn fewer queries into less time</a:t>
            </a:r>
            <a:endParaRPr lang="en-US" sz="16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00000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itle"/>
          <p:cNvSpPr/>
          <p:nvPr/>
        </p:nvSpPr>
        <p:spPr>
          <a:xfrm>
            <a:off x="548640" y="320040"/>
            <a:ext cx="8046720" cy="640080"/>
          </a:xfrm>
          <a:prstGeom prst="rect">
            <a:avLst/>
          </a:prstGeom>
          <a:noFill/>
          <a:ln/>
        </p:spPr>
        <p:txBody>
          <a:bodyPr wrap="square" lIns="0" tIns="0" rIns="0" bIns="0" rtlCol="0" anchor="ctr"/>
          <a:lstStyle/>
          <a:p>
            <a:pPr indent="0" marL="0">
              <a:buNone/>
            </a:pPr>
            <a:r>
              <a:rPr lang="en-US" sz="3000" b="1" dirty="0">
                <a:solidFill>
                  <a:srgbClr val="000000"/>
                </a:solidFill>
                <a:latin typeface="Calibri" pitchFamily="34" charset="0"/>
                <a:ea typeface="Calibri" pitchFamily="34" charset="-122"/>
                <a:cs typeface="Calibri" pitchFamily="34" charset="-120"/>
              </a:rPr>
              <a:t>Reality check: noise and circuit depth</a:t>
            </a:r>
            <a:endParaRPr lang="en-US" sz="3000" dirty="0"/>
          </a:p>
        </p:txBody>
      </p:sp>
      <p:pic>
        <p:nvPicPr>
          <p:cNvPr id="3" name="anim1" descr="fig_noise.png">    </p:cNvPr>
          <p:cNvPicPr>
            <a:picLocks noChangeAspect="1"/>
          </p:cNvPicPr>
          <p:nvPr/>
        </p:nvPicPr>
        <p:blipFill>
          <a:blip r:embed="rId1"/>
          <a:stretch>
            <a:fillRect/>
          </a:stretch>
        </p:blipFill>
        <p:spPr>
          <a:xfrm>
            <a:off x="548640" y="1280160"/>
            <a:ext cx="4937760" cy="2492637"/>
          </a:xfrm>
          <a:prstGeom prst="rect">
            <a:avLst/>
          </a:prstGeom>
        </p:spPr>
      </p:pic>
      <p:sp>
        <p:nvSpPr>
          <p:cNvPr id="4" name="anim1"/>
          <p:cNvSpPr/>
          <p:nvPr/>
        </p:nvSpPr>
        <p:spPr>
          <a:xfrm>
            <a:off x="548640" y="3864237"/>
            <a:ext cx="4937760" cy="274320"/>
          </a:xfrm>
          <a:prstGeom prst="rect">
            <a:avLst/>
          </a:prstGeom>
          <a:noFill/>
          <a:ln/>
        </p:spPr>
        <p:txBody>
          <a:bodyPr wrap="square" lIns="0" tIns="0" rIns="0" bIns="0" rtlCol="0" anchor="t"/>
          <a:lstStyle/>
          <a:p>
            <a:pPr indent="0" marL="0">
              <a:buNone/>
            </a:pPr>
            <a:r>
              <a:rPr lang="en-US" sz="1200" dirty="0">
                <a:solidFill>
                  <a:srgbClr val="000000"/>
                </a:solidFill>
                <a:latin typeface="Calibri" pitchFamily="34" charset="0"/>
                <a:ea typeface="Calibri" pitchFamily="34" charset="-122"/>
                <a:cs typeface="Calibri" pitchFamily="34" charset="-120"/>
              </a:rPr>
              <a:t>Success probability against gate error rate, n = 8 to 20</a:t>
            </a:r>
            <a:endParaRPr lang="en-US" sz="1200" dirty="0"/>
          </a:p>
        </p:txBody>
      </p:sp>
      <p:sp>
        <p:nvSpPr>
          <p:cNvPr id="5" name="anim2"/>
          <p:cNvSpPr/>
          <p:nvPr/>
        </p:nvSpPr>
        <p:spPr>
          <a:xfrm>
            <a:off x="5852160" y="1371600"/>
            <a:ext cx="2834640" cy="32004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000000"/>
                </a:solidFill>
                <a:latin typeface="Calibri" pitchFamily="34" charset="0"/>
                <a:ea typeface="Calibri" pitchFamily="34" charset="-122"/>
                <a:cs typeface="Calibri" pitchFamily="34" charset="-120"/>
              </a:rPr>
              <a:t>n = 14 needs 26 logical qubits and about 30,000 two-qubit gates</a:t>
            </a:r>
            <a:endParaRPr lang="en-US" sz="1500" dirty="0"/>
          </a:p>
          <a:p>
            <a:pPr marL="228600" indent="-228600">
              <a:spcAft>
                <a:spcPts val="1000"/>
              </a:spcAft>
              <a:buSzPct val="100000"/>
              <a:buChar char="•"/>
            </a:pPr>
            <a:r>
              <a:rPr lang="en-US" sz="1500" dirty="0">
                <a:solidFill>
                  <a:srgbClr val="000000"/>
                </a:solidFill>
                <a:latin typeface="Calibri" pitchFamily="34" charset="0"/>
                <a:ea typeface="Calibri" pitchFamily="34" charset="-122"/>
                <a:cs typeface="Calibri" pitchFamily="34" charset="-120"/>
              </a:rPr>
              <a:t>At 10⁻³ error per gate the run almost never succeeds</a:t>
            </a:r>
            <a:endParaRPr lang="en-US" sz="1500" dirty="0"/>
          </a:p>
          <a:p>
            <a:pPr marL="228600" indent="-228600">
              <a:spcAft>
                <a:spcPts val="1000"/>
              </a:spcAft>
              <a:buSzPct val="100000"/>
              <a:buChar char="•"/>
            </a:pPr>
            <a:r>
              <a:rPr lang="en-US" sz="1500" dirty="0">
                <a:solidFill>
                  <a:srgbClr val="000000"/>
                </a:solidFill>
                <a:latin typeface="Calibri" pitchFamily="34" charset="0"/>
                <a:ea typeface="Calibri" pitchFamily="34" charset="-122"/>
                <a:cs typeface="Calibri" pitchFamily="34" charset="-120"/>
              </a:rPr>
              <a:t>At 10⁻⁶ it succeeds 96.5% of the time</a:t>
            </a:r>
            <a:endParaRPr lang="en-US" sz="1500" dirty="0"/>
          </a:p>
          <a:p>
            <a:pPr marL="228600" indent="-228600">
              <a:buSzPct val="100000"/>
              <a:buChar char="•"/>
            </a:pPr>
            <a:r>
              <a:rPr lang="en-US" sz="1500" dirty="0">
                <a:solidFill>
                  <a:srgbClr val="000000"/>
                </a:solidFill>
                <a:latin typeface="Calibri" pitchFamily="34" charset="0"/>
                <a:ea typeface="Calibri" pitchFamily="34" charset="-122"/>
                <a:cs typeface="Calibri" pitchFamily="34" charset="-120"/>
              </a:rPr>
              <a:t>A realistic, hash-like oracle removes any usable advantage in the model</a:t>
            </a:r>
            <a:endParaRPr lang="en-US" sz="15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00000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itle"/>
          <p:cNvSpPr/>
          <p:nvPr/>
        </p:nvSpPr>
        <p:spPr>
          <a:xfrm>
            <a:off x="548640" y="320040"/>
            <a:ext cx="8046720" cy="640080"/>
          </a:xfrm>
          <a:prstGeom prst="rect">
            <a:avLst/>
          </a:prstGeom>
          <a:noFill/>
          <a:ln/>
        </p:spPr>
        <p:txBody>
          <a:bodyPr wrap="square" lIns="0" tIns="0" rIns="0" bIns="0" rtlCol="0" anchor="ctr"/>
          <a:lstStyle/>
          <a:p>
            <a:pPr indent="0" marL="0">
              <a:buNone/>
            </a:pPr>
            <a:r>
              <a:rPr lang="en-US" sz="3000" b="1" dirty="0">
                <a:solidFill>
                  <a:srgbClr val="000000"/>
                </a:solidFill>
                <a:latin typeface="Calibri" pitchFamily="34" charset="0"/>
                <a:ea typeface="Calibri" pitchFamily="34" charset="-122"/>
                <a:cs typeface="Calibri" pitchFamily="34" charset="-120"/>
              </a:rPr>
              <a:t>Classical search vs Grover’s algorithm</a:t>
            </a:r>
            <a:endParaRPr lang="en-US" sz="3000" dirty="0"/>
          </a:p>
        </p:txBody>
      </p:sp>
      <p:graphicFrame>
        <p:nvGraphicFramePr>
          <p:cNvPr id="11" name="anim1"/>
          <p:cNvGraphicFramePr>
            <a:graphicFrameLocks noGrp="1"/>
          </p:cNvGraphicFramePr>
          <p:nvPr>
            <p:extLst>
              <p:ext uri="{D42A27DB-BD31-4B8C-83A1-F6EECF244321}">
                <p14:modId xmlns:p14="http://schemas.microsoft.com/office/powerpoint/2010/main" val="1579011935"/>
              </p:ext>
            </p:extLst>
          </p:nvPr>
        </p:nvGraphicFramePr>
        <p:xfrm>
          <a:off x="548640" y="1234440"/>
          <a:ext cx="8046720" cy="914400"/>
        </p:xfrm>
        <a:graphic>
          <a:graphicData uri="http://schemas.openxmlformats.org/drawingml/2006/table">
            <a:tbl>
              <a:tblPr/>
              <a:tblGrid>
                <a:gridCol w="1828800"/>
                <a:gridCol w="3017520"/>
                <a:gridCol w="3200400"/>
              </a:tblGrid>
              <a:tr h="402336">
                <a:tc>
                  <a:txBody>
                    <a:bodyPr/>
                    <a:lstStyle/>
                    <a:p>
                      <a:pPr indent="0" marL="0">
                        <a:buNone/>
                      </a:pPr>
                      <a:endParaRPr lang="en-US" sz="1500" dirty="0">
                        <a:latin typeface="Calibri" charset="0"/>
                        <a:ea typeface="Calibri" charset="0"/>
                        <a:cs typeface="Calibri" charset="0"/>
                      </a:endParaRPr>
                    </a:p>
                  </a:txBody>
                  <a:tcPr marL="0" marR="91440" marT="36576" marB="36576"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rgbClr val="000000"/>
                          </a:solidFill>
                          <a:latin typeface="Calibri" pitchFamily="34" charset="0"/>
                          <a:ea typeface="Calibri" pitchFamily="34" charset="-122"/>
                          <a:cs typeface="Calibri" pitchFamily="34" charset="-120"/>
                        </a:rPr>
                        <a:t>Classical</a:t>
                      </a:r>
                      <a:endParaRPr lang="en-US" sz="1500" dirty="0">
                        <a:latin typeface="Calibri" charset="0"/>
                        <a:ea typeface="Calibri" charset="0"/>
                        <a:cs typeface="Calibri" charset="0"/>
                      </a:endParaRPr>
                    </a:p>
                  </a:txBody>
                  <a:tcPr marL="0" marR="91440" marT="36576" marB="36576"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rgbClr val="000000"/>
                          </a:solidFill>
                          <a:latin typeface="Calibri" pitchFamily="34" charset="0"/>
                          <a:ea typeface="Calibri" pitchFamily="34" charset="-122"/>
                          <a:cs typeface="Calibri" pitchFamily="34" charset="-120"/>
                        </a:rPr>
                        <a:t>Grover</a:t>
                      </a:r>
                      <a:endParaRPr lang="en-US" sz="1500" dirty="0">
                        <a:latin typeface="Calibri" charset="0"/>
                        <a:ea typeface="Calibri" charset="0"/>
                        <a:cs typeface="Calibri" charset="0"/>
                      </a:endParaRPr>
                    </a:p>
                  </a:txBody>
                  <a:tcPr marL="0" marR="91440" marT="36576" marB="36576"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r h="402336">
                <a:tc>
                  <a:txBody>
                    <a:bodyPr/>
                    <a:lstStyle/>
                    <a:p>
                      <a:pPr indent="0" marL="0">
                        <a:buNone/>
                      </a:pPr>
                      <a:r>
                        <a:rPr lang="en-US" sz="1500" b="1" dirty="0">
                          <a:solidFill>
                            <a:srgbClr val="000000"/>
                          </a:solidFill>
                          <a:latin typeface="Calibri" pitchFamily="34" charset="0"/>
                          <a:ea typeface="Calibri" pitchFamily="34" charset="-122"/>
                          <a:cs typeface="Calibri" pitchFamily="34" charset="-120"/>
                        </a:rPr>
                        <a:t>Queries</a:t>
                      </a:r>
                      <a:endParaRPr lang="en-US" sz="1500" dirty="0">
                        <a:latin typeface="Calibri" charset="0"/>
                        <a:ea typeface="Calibri" charset="0"/>
                        <a:cs typeface="Calibri" charset="0"/>
                      </a:endParaRPr>
                    </a:p>
                  </a:txBody>
                  <a:tcPr marL="0" marR="91440" marT="36576" marB="36576" anchor="ctr">
                    <a:lnL w="0" cap="flat" cmpd="sng" algn="ctr">
                      <a:noFill/>
                    </a:lnL>
                    <a:lnR w="0" cap="flat" cmpd="sng" algn="ctr">
                      <a:noFill/>
                    </a:lnR>
                    <a:lnT w="0" cap="flat" cmpd="sng" algn="ctr">
                      <a:noFill/>
                    </a:lnT>
                    <a:lnB w="9525" cap="flat" cmpd="sng" algn="ctr">
                      <a:solidFill>
                        <a:srgbClr val="C8CCD2"/>
                      </a:solidFill>
                      <a:prstDash val="solid"/>
                      <a:round/>
                      <a:headEnd type="none" w="med" len="med"/>
                      <a:tailEnd type="none" w="med" len="med"/>
                    </a:lnB>
                  </a:tcPr>
                </a:tc>
                <a:tc>
                  <a:txBody>
                    <a:bodyPr/>
                    <a:lstStyle/>
                    <a:p>
                      <a:pPr indent="0" marL="0">
                        <a:buNone/>
                      </a:pPr>
                      <a:r>
                        <a:rPr lang="en-US" sz="1500" dirty="0">
                          <a:solidFill>
                            <a:srgbClr val="000000"/>
                          </a:solidFill>
                          <a:latin typeface="Calibri" pitchFamily="34" charset="0"/>
                          <a:ea typeface="Calibri" pitchFamily="34" charset="-122"/>
                          <a:cs typeface="Calibri" pitchFamily="34" charset="-120"/>
                        </a:rPr>
                        <a:t>O(N), about N/2 on average</a:t>
                      </a:r>
                      <a:endParaRPr lang="en-US" sz="1500" dirty="0">
                        <a:latin typeface="Calibri" charset="0"/>
                        <a:ea typeface="Calibri" charset="0"/>
                        <a:cs typeface="Calibri" charset="0"/>
                      </a:endParaRPr>
                    </a:p>
                  </a:txBody>
                  <a:tcPr marL="0" marR="91440" marT="36576" marB="36576" anchor="ctr">
                    <a:lnL w="0" cap="flat" cmpd="sng" algn="ctr">
                      <a:noFill/>
                    </a:lnL>
                    <a:lnR w="0" cap="flat" cmpd="sng" algn="ctr">
                      <a:noFill/>
                    </a:lnR>
                    <a:lnT w="0" cap="flat" cmpd="sng" algn="ctr">
                      <a:noFill/>
                    </a:lnT>
                    <a:lnB w="9525" cap="flat" cmpd="sng" algn="ctr">
                      <a:solidFill>
                        <a:srgbClr val="C8CCD2"/>
                      </a:solidFill>
                      <a:prstDash val="solid"/>
                      <a:round/>
                      <a:headEnd type="none" w="med" len="med"/>
                      <a:tailEnd type="none" w="med" len="med"/>
                    </a:lnB>
                  </a:tcPr>
                </a:tc>
                <a:tc>
                  <a:txBody>
                    <a:bodyPr/>
                    <a:lstStyle/>
                    <a:p>
                      <a:pPr indent="0" marL="0">
                        <a:buNone/>
                      </a:pPr>
                      <a:r>
                        <a:rPr lang="en-US" sz="1500" dirty="0">
                          <a:solidFill>
                            <a:srgbClr val="000000"/>
                          </a:solidFill>
                          <a:latin typeface="Calibri" pitchFamily="34" charset="0"/>
                          <a:ea typeface="Calibri" pitchFamily="34" charset="-122"/>
                          <a:cs typeface="Calibri" pitchFamily="34" charset="-120"/>
                        </a:rPr>
                        <a:t>O(√N), about 0.785·√N</a:t>
                      </a:r>
                      <a:endParaRPr lang="en-US" sz="1500" dirty="0">
                        <a:latin typeface="Calibri" charset="0"/>
                        <a:ea typeface="Calibri" charset="0"/>
                        <a:cs typeface="Calibri" charset="0"/>
                      </a:endParaRPr>
                    </a:p>
                  </a:txBody>
                  <a:tcPr marL="0" marR="91440" marT="36576" marB="36576" anchor="ctr">
                    <a:lnL w="0" cap="flat" cmpd="sng" algn="ctr">
                      <a:noFill/>
                    </a:lnL>
                    <a:lnR w="0" cap="flat" cmpd="sng" algn="ctr">
                      <a:noFill/>
                    </a:lnR>
                    <a:lnT w="0" cap="flat" cmpd="sng" algn="ctr">
                      <a:noFill/>
                    </a:lnT>
                    <a:lnB w="9525" cap="flat" cmpd="sng" algn="ctr">
                      <a:solidFill>
                        <a:srgbClr val="C8CCD2"/>
                      </a:solidFill>
                      <a:prstDash val="solid"/>
                      <a:round/>
                      <a:headEnd type="none" w="med" len="med"/>
                      <a:tailEnd type="none" w="med" len="med"/>
                    </a:lnB>
                  </a:tcPr>
                </a:tc>
              </a:tr>
              <a:tr h="402336">
                <a:tc>
                  <a:txBody>
                    <a:bodyPr/>
                    <a:lstStyle/>
                    <a:p>
                      <a:pP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0" marR="91440" marT="36576" marB="36576" anchor="ctr">
                    <a:lnL w="0" cap="flat" cmpd="sng" algn="ctr">
                      <a:noFill/>
                    </a:lnL>
                    <a:lnR w="0" cap="flat" cmpd="sng" algn="ctr">
                      <a:noFill/>
                    </a:lnR>
                    <a:lnT w="0" cap="flat" cmpd="sng" algn="ctr">
                      <a:noFill/>
                    </a:lnT>
                    <a:lnB w="9525" cap="flat" cmpd="sng" algn="ctr">
                      <a:solidFill>
                        <a:srgbClr val="C8CCD2"/>
                      </a:solidFill>
                      <a:prstDash val="solid"/>
                      <a:round/>
                      <a:headEnd type="none" w="med" len="med"/>
                      <a:tailEnd type="none" w="med" len="med"/>
                    </a:lnB>
                  </a:tcPr>
                </a:tc>
                <a:tc>
                  <a:txBody>
                    <a:bodyPr/>
                    <a:lstStyle/>
                    <a:p>
                      <a:pPr indent="0" marL="0">
                        <a:buNone/>
                      </a:pPr>
                      <a:r>
                        <a:rPr lang="en-US" sz="1500" dirty="0">
                          <a:solidFill>
                            <a:srgbClr val="000000"/>
                          </a:solidFill>
                          <a:latin typeface="Calibri" pitchFamily="34" charset="0"/>
                          <a:ea typeface="Calibri" pitchFamily="34" charset="-122"/>
                          <a:cs typeface="Calibri" pitchFamily="34" charset="-120"/>
                        </a:rPr>
                        <a:t>Exact</a:t>
                      </a:r>
                      <a:endParaRPr lang="en-US" sz="1500" dirty="0">
                        <a:latin typeface="Calibri" charset="0"/>
                        <a:ea typeface="Calibri" charset="0"/>
                        <a:cs typeface="Calibri" charset="0"/>
                      </a:endParaRPr>
                    </a:p>
                  </a:txBody>
                  <a:tcPr marL="0" marR="91440" marT="36576" marB="36576" anchor="ctr">
                    <a:lnL w="0" cap="flat" cmpd="sng" algn="ctr">
                      <a:noFill/>
                    </a:lnL>
                    <a:lnR w="0" cap="flat" cmpd="sng" algn="ctr">
                      <a:noFill/>
                    </a:lnR>
                    <a:lnT w="0" cap="flat" cmpd="sng" algn="ctr">
                      <a:noFill/>
                    </a:lnT>
                    <a:lnB w="9525" cap="flat" cmpd="sng" algn="ctr">
                      <a:solidFill>
                        <a:srgbClr val="C8CCD2"/>
                      </a:solidFill>
                      <a:prstDash val="solid"/>
                      <a:round/>
                      <a:headEnd type="none" w="med" len="med"/>
                      <a:tailEnd type="none" w="med" len="med"/>
                    </a:lnB>
                  </a:tcPr>
                </a:tc>
                <a:tc>
                  <a:txBody>
                    <a:bodyPr/>
                    <a:lstStyle/>
                    <a:p>
                      <a:pPr indent="0" marL="0">
                        <a:buNone/>
                      </a:pPr>
                      <a:r>
                        <a:rPr lang="en-US" sz="1500" dirty="0">
                          <a:solidFill>
                            <a:srgbClr val="000000"/>
                          </a:solidFill>
                          <a:latin typeface="Calibri" pitchFamily="34" charset="0"/>
                          <a:ea typeface="Calibri" pitchFamily="34" charset="-122"/>
                          <a:cs typeface="Calibri" pitchFamily="34" charset="-120"/>
                        </a:rPr>
                        <a:t>Probabilistic, ≥ 99.5% for n ≥ 5</a:t>
                      </a:r>
                      <a:endParaRPr lang="en-US" sz="1500" dirty="0">
                        <a:latin typeface="Calibri" charset="0"/>
                        <a:ea typeface="Calibri" charset="0"/>
                        <a:cs typeface="Calibri" charset="0"/>
                      </a:endParaRPr>
                    </a:p>
                  </a:txBody>
                  <a:tcPr marL="0" marR="91440" marT="36576" marB="36576" anchor="ctr">
                    <a:lnL w="0" cap="flat" cmpd="sng" algn="ctr">
                      <a:noFill/>
                    </a:lnL>
                    <a:lnR w="0" cap="flat" cmpd="sng" algn="ctr">
                      <a:noFill/>
                    </a:lnR>
                    <a:lnT w="0" cap="flat" cmpd="sng" algn="ctr">
                      <a:noFill/>
                    </a:lnT>
                    <a:lnB w="9525" cap="flat" cmpd="sng" algn="ctr">
                      <a:solidFill>
                        <a:srgbClr val="C8CCD2"/>
                      </a:solidFill>
                      <a:prstDash val="solid"/>
                      <a:round/>
                      <a:headEnd type="none" w="med" len="med"/>
                      <a:tailEnd type="none" w="med" len="med"/>
                    </a:lnB>
                  </a:tcPr>
                </a:tc>
              </a:tr>
              <a:tr h="402336">
                <a:tc>
                  <a:txBody>
                    <a:bodyPr/>
                    <a:lstStyle/>
                    <a:p>
                      <a:pPr indent="0" marL="0">
                        <a:buNone/>
                      </a:pPr>
                      <a:r>
                        <a:rPr lang="en-US" sz="1500" b="1" dirty="0">
                          <a:solidFill>
                            <a:srgbClr val="000000"/>
                          </a:solidFill>
                          <a:latin typeface="Calibri" pitchFamily="34" charset="0"/>
                          <a:ea typeface="Calibri" pitchFamily="34" charset="-122"/>
                          <a:cs typeface="Calibri" pitchFamily="34" charset="-120"/>
                        </a:rPr>
                        <a:t>Needs to know</a:t>
                      </a:r>
                      <a:endParaRPr lang="en-US" sz="1500" dirty="0">
                        <a:latin typeface="Calibri" charset="0"/>
                        <a:ea typeface="Calibri" charset="0"/>
                        <a:cs typeface="Calibri" charset="0"/>
                      </a:endParaRPr>
                    </a:p>
                  </a:txBody>
                  <a:tcPr marL="0" marR="91440" marT="36576" marB="36576" anchor="ctr">
                    <a:lnL w="0" cap="flat" cmpd="sng" algn="ctr">
                      <a:noFill/>
                    </a:lnL>
                    <a:lnR w="0" cap="flat" cmpd="sng" algn="ctr">
                      <a:noFill/>
                    </a:lnR>
                    <a:lnT w="0" cap="flat" cmpd="sng" algn="ctr">
                      <a:noFill/>
                    </a:lnT>
                    <a:lnB w="9525" cap="flat" cmpd="sng" algn="ctr">
                      <a:solidFill>
                        <a:srgbClr val="C8CCD2"/>
                      </a:solidFill>
                      <a:prstDash val="solid"/>
                      <a:round/>
                      <a:headEnd type="none" w="med" len="med"/>
                      <a:tailEnd type="none" w="med" len="med"/>
                    </a:lnB>
                  </a:tcPr>
                </a:tc>
                <a:tc>
                  <a:txBody>
                    <a:bodyPr/>
                    <a:lstStyle/>
                    <a:p>
                      <a:pPr indent="0" marL="0">
                        <a:buNone/>
                      </a:pPr>
                      <a:r>
                        <a:rPr lang="en-US" sz="1500" dirty="0">
                          <a:solidFill>
                            <a:srgbClr val="000000"/>
                          </a:solidFill>
                          <a:latin typeface="Calibri" pitchFamily="34" charset="0"/>
                          <a:ea typeface="Calibri" pitchFamily="34" charset="-122"/>
                          <a:cs typeface="Calibri" pitchFamily="34" charset="-120"/>
                        </a:rPr>
                        <a:t>Nothing</a:t>
                      </a:r>
                      <a:endParaRPr lang="en-US" sz="1500" dirty="0">
                        <a:latin typeface="Calibri" charset="0"/>
                        <a:ea typeface="Calibri" charset="0"/>
                        <a:cs typeface="Calibri" charset="0"/>
                      </a:endParaRPr>
                    </a:p>
                  </a:txBody>
                  <a:tcPr marL="0" marR="91440" marT="36576" marB="36576" anchor="ctr">
                    <a:lnL w="0" cap="flat" cmpd="sng" algn="ctr">
                      <a:noFill/>
                    </a:lnL>
                    <a:lnR w="0" cap="flat" cmpd="sng" algn="ctr">
                      <a:noFill/>
                    </a:lnR>
                    <a:lnT w="0" cap="flat" cmpd="sng" algn="ctr">
                      <a:noFill/>
                    </a:lnT>
                    <a:lnB w="9525" cap="flat" cmpd="sng" algn="ctr">
                      <a:solidFill>
                        <a:srgbClr val="C8CCD2"/>
                      </a:solidFill>
                      <a:prstDash val="solid"/>
                      <a:round/>
                      <a:headEnd type="none" w="med" len="med"/>
                      <a:tailEnd type="none" w="med" len="med"/>
                    </a:lnB>
                  </a:tcPr>
                </a:tc>
                <a:tc>
                  <a:txBody>
                    <a:bodyPr/>
                    <a:lstStyle/>
                    <a:p>
                      <a:pPr indent="0" marL="0">
                        <a:buNone/>
                      </a:pPr>
                      <a:r>
                        <a:rPr lang="en-US" sz="1500" dirty="0">
                          <a:solidFill>
                            <a:srgbClr val="000000"/>
                          </a:solidFill>
                          <a:latin typeface="Calibri" pitchFamily="34" charset="0"/>
                          <a:ea typeface="Calibri" pitchFamily="34" charset="-122"/>
                          <a:cs typeface="Calibri" pitchFamily="34" charset="-120"/>
                        </a:rPr>
                        <a:t>Number of secrets M</a:t>
                      </a:r>
                      <a:endParaRPr lang="en-US" sz="1500" dirty="0">
                        <a:latin typeface="Calibri" charset="0"/>
                        <a:ea typeface="Calibri" charset="0"/>
                        <a:cs typeface="Calibri" charset="0"/>
                      </a:endParaRPr>
                    </a:p>
                  </a:txBody>
                  <a:tcPr marL="0" marR="91440" marT="36576" marB="36576" anchor="ctr">
                    <a:lnL w="0" cap="flat" cmpd="sng" algn="ctr">
                      <a:noFill/>
                    </a:lnL>
                    <a:lnR w="0" cap="flat" cmpd="sng" algn="ctr">
                      <a:noFill/>
                    </a:lnR>
                    <a:lnT w="0" cap="flat" cmpd="sng" algn="ctr">
                      <a:noFill/>
                    </a:lnT>
                    <a:lnB w="9525" cap="flat" cmpd="sng" algn="ctr">
                      <a:solidFill>
                        <a:srgbClr val="C8CCD2"/>
                      </a:solidFill>
                      <a:prstDash val="solid"/>
                      <a:round/>
                      <a:headEnd type="none" w="med" len="med"/>
                      <a:tailEnd type="none" w="med" len="med"/>
                    </a:lnB>
                  </a:tcPr>
                </a:tc>
              </a:tr>
              <a:tr h="402336">
                <a:tc>
                  <a:txBody>
                    <a:bodyPr/>
                    <a:lstStyle/>
                    <a:p>
                      <a:pPr indent="0" marL="0">
                        <a:buNone/>
                      </a:pPr>
                      <a:r>
                        <a:rPr lang="en-US" sz="1500" b="1" dirty="0">
                          <a:solidFill>
                            <a:srgbClr val="000000"/>
                          </a:solidFill>
                          <a:latin typeface="Calibri" pitchFamily="34" charset="0"/>
                          <a:ea typeface="Calibri" pitchFamily="34" charset="-122"/>
                          <a:cs typeface="Calibri" pitchFamily="34" charset="-120"/>
                        </a:rPr>
                        <a:t>Oracle</a:t>
                      </a:r>
                      <a:endParaRPr lang="en-US" sz="1500" dirty="0">
                        <a:latin typeface="Calibri" charset="0"/>
                        <a:ea typeface="Calibri" charset="0"/>
                        <a:cs typeface="Calibri" charset="0"/>
                      </a:endParaRPr>
                    </a:p>
                  </a:txBody>
                  <a:tcPr marL="0" marR="91440" marT="36576" marB="36576" anchor="ctr">
                    <a:lnL w="0" cap="flat" cmpd="sng" algn="ctr">
                      <a:noFill/>
                    </a:lnL>
                    <a:lnR w="0" cap="flat" cmpd="sng" algn="ctr">
                      <a:noFill/>
                    </a:lnR>
                    <a:lnT w="0" cap="flat" cmpd="sng" algn="ctr">
                      <a:noFill/>
                    </a:lnT>
                    <a:lnB w="9525" cap="flat" cmpd="sng" algn="ctr">
                      <a:solidFill>
                        <a:srgbClr val="C8CCD2"/>
                      </a:solidFill>
                      <a:prstDash val="solid"/>
                      <a:round/>
                      <a:headEnd type="none" w="med" len="med"/>
                      <a:tailEnd type="none" w="med" len="med"/>
                    </a:lnB>
                  </a:tcPr>
                </a:tc>
                <a:tc>
                  <a:txBody>
                    <a:bodyPr/>
                    <a:lstStyle/>
                    <a:p>
                      <a:pPr indent="0" marL="0">
                        <a:buNone/>
                      </a:pPr>
                      <a:r>
                        <a:rPr lang="en-US" sz="1500" dirty="0">
                          <a:solidFill>
                            <a:srgbClr val="000000"/>
                          </a:solidFill>
                          <a:latin typeface="Calibri" pitchFamily="34" charset="0"/>
                          <a:ea typeface="Calibri" pitchFamily="34" charset="-122"/>
                          <a:cs typeface="Calibri" pitchFamily="34" charset="-120"/>
                        </a:rPr>
                        <a:t>Any function call</a:t>
                      </a:r>
                      <a:endParaRPr lang="en-US" sz="1500" dirty="0">
                        <a:latin typeface="Calibri" charset="0"/>
                        <a:ea typeface="Calibri" charset="0"/>
                        <a:cs typeface="Calibri" charset="0"/>
                      </a:endParaRPr>
                    </a:p>
                  </a:txBody>
                  <a:tcPr marL="0" marR="91440" marT="36576" marB="36576" anchor="ctr">
                    <a:lnL w="0" cap="flat" cmpd="sng" algn="ctr">
                      <a:noFill/>
                    </a:lnL>
                    <a:lnR w="0" cap="flat" cmpd="sng" algn="ctr">
                      <a:noFill/>
                    </a:lnR>
                    <a:lnT w="0" cap="flat" cmpd="sng" algn="ctr">
                      <a:noFill/>
                    </a:lnT>
                    <a:lnB w="9525" cap="flat" cmpd="sng" algn="ctr">
                      <a:solidFill>
                        <a:srgbClr val="C8CCD2"/>
                      </a:solidFill>
                      <a:prstDash val="solid"/>
                      <a:round/>
                      <a:headEnd type="none" w="med" len="med"/>
                      <a:tailEnd type="none" w="med" len="med"/>
                    </a:lnB>
                  </a:tcPr>
                </a:tc>
                <a:tc>
                  <a:txBody>
                    <a:bodyPr/>
                    <a:lstStyle/>
                    <a:p>
                      <a:pPr indent="0" marL="0">
                        <a:buNone/>
                      </a:pPr>
                      <a:r>
                        <a:rPr lang="en-US" sz="1500" dirty="0">
                          <a:solidFill>
                            <a:srgbClr val="000000"/>
                          </a:solidFill>
                          <a:latin typeface="Calibri" pitchFamily="34" charset="0"/>
                          <a:ea typeface="Calibri" pitchFamily="34" charset="-122"/>
                          <a:cs typeface="Calibri" pitchFamily="34" charset="-120"/>
                        </a:rPr>
                        <a:t>Reversible quantum circuit</a:t>
                      </a:r>
                      <a:endParaRPr lang="en-US" sz="1500" dirty="0">
                        <a:latin typeface="Calibri" charset="0"/>
                        <a:ea typeface="Calibri" charset="0"/>
                        <a:cs typeface="Calibri" charset="0"/>
                      </a:endParaRPr>
                    </a:p>
                  </a:txBody>
                  <a:tcPr marL="0" marR="91440" marT="36576" marB="36576" anchor="ctr">
                    <a:lnL w="0" cap="flat" cmpd="sng" algn="ctr">
                      <a:noFill/>
                    </a:lnL>
                    <a:lnR w="0" cap="flat" cmpd="sng" algn="ctr">
                      <a:noFill/>
                    </a:lnR>
                    <a:lnT w="0" cap="flat" cmpd="sng" algn="ctr">
                      <a:noFill/>
                    </a:lnT>
                    <a:lnB w="9525" cap="flat" cmpd="sng" algn="ctr">
                      <a:solidFill>
                        <a:srgbClr val="C8CCD2"/>
                      </a:solidFill>
                      <a:prstDash val="solid"/>
                      <a:round/>
                      <a:headEnd type="none" w="med" len="med"/>
                      <a:tailEnd type="none" w="med" len="med"/>
                    </a:lnB>
                  </a:tcPr>
                </a:tc>
              </a:tr>
              <a:tr h="402336">
                <a:tc>
                  <a:txBody>
                    <a:bodyPr/>
                    <a:lstStyle/>
                    <a:p>
                      <a:pPr indent="0" marL="0">
                        <a:buNone/>
                      </a:pPr>
                      <a:r>
                        <a:rPr lang="en-US" sz="1500" b="1" dirty="0">
                          <a:solidFill>
                            <a:srgbClr val="000000"/>
                          </a:solidFill>
                          <a:latin typeface="Calibri" pitchFamily="34" charset="0"/>
                          <a:ea typeface="Calibri" pitchFamily="34" charset="-122"/>
                          <a:cs typeface="Calibri" pitchFamily="34" charset="-120"/>
                        </a:rPr>
                        <a:t>Parallelism</a:t>
                      </a:r>
                      <a:endParaRPr lang="en-US" sz="1500" dirty="0">
                        <a:latin typeface="Calibri" charset="0"/>
                        <a:ea typeface="Calibri" charset="0"/>
                        <a:cs typeface="Calibri" charset="0"/>
                      </a:endParaRPr>
                    </a:p>
                  </a:txBody>
                  <a:tcPr marL="0" marR="91440" marT="36576" marB="36576" anchor="ctr">
                    <a:lnL w="0" cap="flat" cmpd="sng" algn="ctr">
                      <a:noFill/>
                    </a:lnL>
                    <a:lnR w="0" cap="flat" cmpd="sng" algn="ctr">
                      <a:noFill/>
                    </a:lnR>
                    <a:lnT w="0" cap="flat" cmpd="sng" algn="ctr">
                      <a:noFill/>
                    </a:lnT>
                    <a:lnB w="9525" cap="flat" cmpd="sng" algn="ctr">
                      <a:solidFill>
                        <a:srgbClr val="C8CCD2"/>
                      </a:solidFill>
                      <a:prstDash val="solid"/>
                      <a:round/>
                      <a:headEnd type="none" w="med" len="med"/>
                      <a:tailEnd type="none" w="med" len="med"/>
                    </a:lnB>
                  </a:tcPr>
                </a:tc>
                <a:tc>
                  <a:txBody>
                    <a:bodyPr/>
                    <a:lstStyle/>
                    <a:p>
                      <a:pPr indent="0" marL="0">
                        <a:buNone/>
                      </a:pPr>
                      <a:r>
                        <a:rPr lang="en-US" sz="1500" dirty="0">
                          <a:solidFill>
                            <a:srgbClr val="000000"/>
                          </a:solidFill>
                          <a:latin typeface="Calibri" pitchFamily="34" charset="0"/>
                          <a:ea typeface="Calibri" pitchFamily="34" charset="-122"/>
                          <a:cs typeface="Calibri" pitchFamily="34" charset="-120"/>
                        </a:rPr>
                        <a:t>p machines: p× faster</a:t>
                      </a:r>
                      <a:endParaRPr lang="en-US" sz="1500" dirty="0">
                        <a:latin typeface="Calibri" charset="0"/>
                        <a:ea typeface="Calibri" charset="0"/>
                        <a:cs typeface="Calibri" charset="0"/>
                      </a:endParaRPr>
                    </a:p>
                  </a:txBody>
                  <a:tcPr marL="0" marR="91440" marT="36576" marB="36576" anchor="ctr">
                    <a:lnL w="0" cap="flat" cmpd="sng" algn="ctr">
                      <a:noFill/>
                    </a:lnL>
                    <a:lnR w="0" cap="flat" cmpd="sng" algn="ctr">
                      <a:noFill/>
                    </a:lnR>
                    <a:lnT w="0" cap="flat" cmpd="sng" algn="ctr">
                      <a:noFill/>
                    </a:lnT>
                    <a:lnB w="9525" cap="flat" cmpd="sng" algn="ctr">
                      <a:solidFill>
                        <a:srgbClr val="C8CCD2"/>
                      </a:solidFill>
                      <a:prstDash val="solid"/>
                      <a:round/>
                      <a:headEnd type="none" w="med" len="med"/>
                      <a:tailEnd type="none" w="med" len="med"/>
                    </a:lnB>
                  </a:tcPr>
                </a:tc>
                <a:tc>
                  <a:txBody>
                    <a:bodyPr/>
                    <a:lstStyle/>
                    <a:p>
                      <a:pPr indent="0" marL="0">
                        <a:buNone/>
                      </a:pPr>
                      <a:r>
                        <a:rPr lang="en-US" sz="1500" dirty="0">
                          <a:solidFill>
                            <a:srgbClr val="000000"/>
                          </a:solidFill>
                          <a:latin typeface="Calibri" pitchFamily="34" charset="0"/>
                          <a:ea typeface="Calibri" pitchFamily="34" charset="-122"/>
                          <a:cs typeface="Calibri" pitchFamily="34" charset="-120"/>
                        </a:rPr>
                        <a:t>p machines: only √p×</a:t>
                      </a:r>
                      <a:endParaRPr lang="en-US" sz="1500" dirty="0">
                        <a:latin typeface="Calibri" charset="0"/>
                        <a:ea typeface="Calibri" charset="0"/>
                        <a:cs typeface="Calibri" charset="0"/>
                      </a:endParaRPr>
                    </a:p>
                  </a:txBody>
                  <a:tcPr marL="0" marR="91440" marT="36576" marB="36576" anchor="ctr">
                    <a:lnL w="0" cap="flat" cmpd="sng" algn="ctr">
                      <a:noFill/>
                    </a:lnL>
                    <a:lnR w="0" cap="flat" cmpd="sng" algn="ctr">
                      <a:noFill/>
                    </a:lnR>
                    <a:lnT w="0" cap="flat" cmpd="sng" algn="ctr">
                      <a:noFill/>
                    </a:lnT>
                    <a:lnB w="9525" cap="flat" cmpd="sng" algn="ctr">
                      <a:solidFill>
                        <a:srgbClr val="C8CCD2"/>
                      </a:solidFill>
                      <a:prstDash val="solid"/>
                      <a:round/>
                      <a:headEnd type="none" w="med" len="med"/>
                      <a:tailEnd type="none" w="med" len="med"/>
                    </a:lnB>
                  </a:tcPr>
                </a:tc>
              </a:tr>
              <a:tr h="402336">
                <a:tc>
                  <a:txBody>
                    <a:bodyPr/>
                    <a:lstStyle/>
                    <a:p>
                      <a:pPr indent="0" marL="0">
                        <a:buNone/>
                      </a:pPr>
                      <a:r>
                        <a:rPr lang="en-US" sz="1500" b="1" dirty="0">
                          <a:solidFill>
                            <a:srgbClr val="000000"/>
                          </a:solidFill>
                          <a:latin typeface="Calibri" pitchFamily="34" charset="0"/>
                          <a:ea typeface="Calibri" pitchFamily="34" charset="-122"/>
                          <a:cs typeface="Calibri" pitchFamily="34" charset="-120"/>
                        </a:rPr>
                        <a:t>Errors</a:t>
                      </a:r>
                      <a:endParaRPr lang="en-US" sz="1500" dirty="0">
                        <a:latin typeface="Calibri" charset="0"/>
                        <a:ea typeface="Calibri" charset="0"/>
                        <a:cs typeface="Calibri" charset="0"/>
                      </a:endParaRPr>
                    </a:p>
                  </a:txBody>
                  <a:tcPr marL="0" marR="91440" marT="36576" marB="36576" anchor="ctr">
                    <a:lnL w="0" cap="flat" cmpd="sng" algn="ctr">
                      <a:noFill/>
                    </a:lnL>
                    <a:lnR w="0" cap="flat" cmpd="sng" algn="ctr">
                      <a:noFill/>
                    </a:lnR>
                    <a:lnT w="0" cap="flat" cmpd="sng" algn="ctr">
                      <a:noFill/>
                    </a:lnT>
                    <a:lnB w="9525" cap="flat" cmpd="sng" algn="ctr">
                      <a:solidFill>
                        <a:srgbClr val="C8CCD2"/>
                      </a:solidFill>
                      <a:prstDash val="solid"/>
                      <a:round/>
                      <a:headEnd type="none" w="med" len="med"/>
                      <a:tailEnd type="none" w="med" len="med"/>
                    </a:lnB>
                  </a:tcPr>
                </a:tc>
                <a:tc>
                  <a:txBody>
                    <a:bodyPr/>
                    <a:lstStyle/>
                    <a:p>
                      <a:pPr indent="0" marL="0">
                        <a:buNone/>
                      </a:pPr>
                      <a:r>
                        <a:rPr lang="en-US" sz="1500" dirty="0">
                          <a:solidFill>
                            <a:srgbClr val="000000"/>
                          </a:solidFill>
                          <a:latin typeface="Calibri" pitchFamily="34" charset="0"/>
                          <a:ea typeface="Calibri" pitchFamily="34" charset="-122"/>
                          <a:cs typeface="Calibri" pitchFamily="34" charset="-120"/>
                        </a:rPr>
                        <a:t>Negligible</a:t>
                      </a:r>
                      <a:endParaRPr lang="en-US" sz="1500" dirty="0">
                        <a:latin typeface="Calibri" charset="0"/>
                        <a:ea typeface="Calibri" charset="0"/>
                        <a:cs typeface="Calibri" charset="0"/>
                      </a:endParaRPr>
                    </a:p>
                  </a:txBody>
                  <a:tcPr marL="0" marR="91440" marT="36576" marB="36576" anchor="ctr">
                    <a:lnL w="0" cap="flat" cmpd="sng" algn="ctr">
                      <a:noFill/>
                    </a:lnL>
                    <a:lnR w="0" cap="flat" cmpd="sng" algn="ctr">
                      <a:noFill/>
                    </a:lnR>
                    <a:lnT w="0" cap="flat" cmpd="sng" algn="ctr">
                      <a:noFill/>
                    </a:lnT>
                    <a:lnB w="9525" cap="flat" cmpd="sng" algn="ctr">
                      <a:solidFill>
                        <a:srgbClr val="C8CCD2"/>
                      </a:solidFill>
                      <a:prstDash val="solid"/>
                      <a:round/>
                      <a:headEnd type="none" w="med" len="med"/>
                      <a:tailEnd type="none" w="med" len="med"/>
                    </a:lnB>
                  </a:tcPr>
                </a:tc>
                <a:tc>
                  <a:txBody>
                    <a:bodyPr/>
                    <a:lstStyle/>
                    <a:p>
                      <a:pPr indent="0" marL="0">
                        <a:buNone/>
                      </a:pPr>
                      <a:r>
                        <a:rPr lang="en-US" sz="1500" dirty="0">
                          <a:solidFill>
                            <a:srgbClr val="000000"/>
                          </a:solidFill>
                          <a:latin typeface="Calibri" pitchFamily="34" charset="0"/>
                          <a:ea typeface="Calibri" pitchFamily="34" charset="-122"/>
                          <a:cs typeface="Calibri" pitchFamily="34" charset="-120"/>
                        </a:rPr>
                        <a:t>Very sensitive (deep circuits)</a:t>
                      </a:r>
                      <a:endParaRPr lang="en-US" sz="1500" dirty="0">
                        <a:latin typeface="Calibri" charset="0"/>
                        <a:ea typeface="Calibri" charset="0"/>
                        <a:cs typeface="Calibri" charset="0"/>
                      </a:endParaRPr>
                    </a:p>
                  </a:txBody>
                  <a:tcPr marL="0" marR="91440" marT="36576" marB="36576" anchor="ctr">
                    <a:lnL w="0" cap="flat" cmpd="sng" algn="ctr">
                      <a:noFill/>
                    </a:lnL>
                    <a:lnR w="0" cap="flat" cmpd="sng" algn="ctr">
                      <a:noFill/>
                    </a:lnR>
                    <a:lnT w="0" cap="flat" cmpd="sng" algn="ctr">
                      <a:noFill/>
                    </a:lnT>
                    <a:lnB w="9525" cap="flat" cmpd="sng" algn="ctr">
                      <a:solidFill>
                        <a:srgbClr val="C8CCD2"/>
                      </a:solidFill>
                      <a:prstDash val="solid"/>
                      <a:round/>
                      <a:headEnd type="none" w="med" len="med"/>
                      <a:tailEnd type="none" w="med" len="med"/>
                    </a:lnB>
                  </a:tcPr>
                </a:tc>
              </a:tr>
              <a:tr h="402336">
                <a:tc>
                  <a:txBody>
                    <a:bodyPr/>
                    <a:lstStyle/>
                    <a:p>
                      <a:pPr indent="0" marL="0">
                        <a:buNone/>
                      </a:pPr>
                      <a:r>
                        <a:rPr lang="en-US" sz="1500" b="1" dirty="0">
                          <a:solidFill>
                            <a:srgbClr val="000000"/>
                          </a:solidFill>
                          <a:latin typeface="Calibri" pitchFamily="34" charset="0"/>
                          <a:ea typeface="Calibri" pitchFamily="34" charset="-122"/>
                          <a:cs typeface="Calibri" pitchFamily="34" charset="-120"/>
                        </a:rPr>
                        <a:t>Hardware</a:t>
                      </a:r>
                      <a:endParaRPr lang="en-US" sz="1500" dirty="0">
                        <a:latin typeface="Calibri" charset="0"/>
                        <a:ea typeface="Calibri" charset="0"/>
                        <a:cs typeface="Calibri" charset="0"/>
                      </a:endParaRPr>
                    </a:p>
                  </a:txBody>
                  <a:tcPr marL="0" marR="91440" marT="36576" marB="36576" anchor="ctr">
                    <a:lnL w="0" cap="flat" cmpd="sng" algn="ctr">
                      <a:noFill/>
                    </a:lnL>
                    <a:lnR w="0" cap="flat" cmpd="sng" algn="ctr">
                      <a:noFill/>
                    </a:lnR>
                    <a:lnT w="0" cap="flat" cmpd="sng" algn="ctr">
                      <a:noFill/>
                    </a:lnT>
                    <a:lnB w="9525" cap="flat" cmpd="sng" algn="ctr">
                      <a:solidFill>
                        <a:srgbClr val="C8CCD2"/>
                      </a:solidFill>
                      <a:prstDash val="solid"/>
                      <a:round/>
                      <a:headEnd type="none" w="med" len="med"/>
                      <a:tailEnd type="none" w="med" len="med"/>
                    </a:lnB>
                  </a:tcPr>
                </a:tc>
                <a:tc>
                  <a:txBody>
                    <a:bodyPr/>
                    <a:lstStyle/>
                    <a:p>
                      <a:pPr indent="0" marL="0">
                        <a:buNone/>
                      </a:pPr>
                      <a:r>
                        <a:rPr lang="en-US" sz="1500" dirty="0">
                          <a:solidFill>
                            <a:srgbClr val="000000"/>
                          </a:solidFill>
                          <a:latin typeface="Calibri" pitchFamily="34" charset="0"/>
                          <a:ea typeface="Calibri" pitchFamily="34" charset="-122"/>
                          <a:cs typeface="Calibri" pitchFamily="34" charset="-120"/>
                        </a:rPr>
                        <a:t>Any CPU</a:t>
                      </a:r>
                      <a:endParaRPr lang="en-US" sz="1500" dirty="0">
                        <a:latin typeface="Calibri" charset="0"/>
                        <a:ea typeface="Calibri" charset="0"/>
                        <a:cs typeface="Calibri" charset="0"/>
                      </a:endParaRPr>
                    </a:p>
                  </a:txBody>
                  <a:tcPr marL="0" marR="91440" marT="36576" marB="36576" anchor="ctr">
                    <a:lnL w="0" cap="flat" cmpd="sng" algn="ctr">
                      <a:noFill/>
                    </a:lnL>
                    <a:lnR w="0" cap="flat" cmpd="sng" algn="ctr">
                      <a:noFill/>
                    </a:lnR>
                    <a:lnT w="0" cap="flat" cmpd="sng" algn="ctr">
                      <a:noFill/>
                    </a:lnT>
                    <a:lnB w="9525" cap="flat" cmpd="sng" algn="ctr">
                      <a:solidFill>
                        <a:srgbClr val="C8CCD2"/>
                      </a:solidFill>
                      <a:prstDash val="solid"/>
                      <a:round/>
                      <a:headEnd type="none" w="med" len="med"/>
                      <a:tailEnd type="none" w="med" len="med"/>
                    </a:lnB>
                  </a:tcPr>
                </a:tc>
                <a:tc>
                  <a:txBody>
                    <a:bodyPr/>
                    <a:lstStyle/>
                    <a:p>
                      <a:pPr indent="0" marL="0">
                        <a:buNone/>
                      </a:pPr>
                      <a:r>
                        <a:rPr lang="en-US" sz="1500" dirty="0">
                          <a:solidFill>
                            <a:srgbClr val="000000"/>
                          </a:solidFill>
                          <a:latin typeface="Calibri" pitchFamily="34" charset="0"/>
                          <a:ea typeface="Calibri" pitchFamily="34" charset="-122"/>
                          <a:cs typeface="Calibri" pitchFamily="34" charset="-120"/>
                        </a:rPr>
                        <a:t>Fault-tolerant quantum computer</a:t>
                      </a:r>
                      <a:endParaRPr lang="en-US" sz="1500" dirty="0">
                        <a:latin typeface="Calibri" charset="0"/>
                        <a:ea typeface="Calibri" charset="0"/>
                        <a:cs typeface="Calibri" charset="0"/>
                      </a:endParaRPr>
                    </a:p>
                  </a:txBody>
                  <a:tcPr marL="0" marR="91440" marT="36576" marB="36576" anchor="ctr">
                    <a:lnL w="0" cap="flat" cmpd="sng" algn="ctr">
                      <a:noFill/>
                    </a:lnL>
                    <a:lnR w="0" cap="flat" cmpd="sng" algn="ctr">
                      <a:noFill/>
                    </a:lnR>
                    <a:lnT w="0" cap="flat" cmpd="sng" algn="ctr">
                      <a:noFill/>
                    </a:lnT>
                    <a:lnB w="9525" cap="flat" cmpd="sng" algn="ctr">
                      <a:solidFill>
                        <a:srgbClr val="C8CCD2"/>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00000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itle"/>
          <p:cNvSpPr/>
          <p:nvPr/>
        </p:nvSpPr>
        <p:spPr>
          <a:xfrm>
            <a:off x="548640" y="320040"/>
            <a:ext cx="8046720" cy="640080"/>
          </a:xfrm>
          <a:prstGeom prst="rect">
            <a:avLst/>
          </a:prstGeom>
          <a:noFill/>
          <a:ln/>
        </p:spPr>
        <p:txBody>
          <a:bodyPr wrap="square" lIns="0" tIns="0" rIns="0" bIns="0" rtlCol="0" anchor="ctr"/>
          <a:lstStyle/>
          <a:p>
            <a:pPr indent="0" marL="0">
              <a:buNone/>
            </a:pPr>
            <a:r>
              <a:rPr lang="en-US" sz="3000" b="1" dirty="0">
                <a:solidFill>
                  <a:srgbClr val="000000"/>
                </a:solidFill>
                <a:latin typeface="Calibri" pitchFamily="34" charset="0"/>
                <a:ea typeface="Calibri" pitchFamily="34" charset="-122"/>
                <a:cs typeface="Calibri" pitchFamily="34" charset="-120"/>
              </a:rPr>
              <a:t>Conclusion</a:t>
            </a:r>
            <a:endParaRPr lang="en-US" sz="3000" dirty="0"/>
          </a:p>
        </p:txBody>
      </p:sp>
      <p:sp>
        <p:nvSpPr>
          <p:cNvPr id="3" name="anim1"/>
          <p:cNvSpPr/>
          <p:nvPr/>
        </p:nvSpPr>
        <p:spPr>
          <a:xfrm>
            <a:off x="548640" y="1371600"/>
            <a:ext cx="457200" cy="457200"/>
          </a:xfrm>
          <a:prstGeom prst="rect">
            <a:avLst/>
          </a:prstGeom>
          <a:noFill/>
          <a:ln/>
        </p:spPr>
        <p:txBody>
          <a:bodyPr wrap="square" lIns="0" tIns="0" rIns="0" bIns="0" rtlCol="0" anchor="t"/>
          <a:lstStyle/>
          <a:p>
            <a:pPr indent="0" marL="0">
              <a:buNone/>
            </a:pPr>
            <a:r>
              <a:rPr lang="en-US" sz="2400" b="1" dirty="0">
                <a:solidFill>
                  <a:srgbClr val="000000"/>
                </a:solidFill>
                <a:latin typeface="Calibri" pitchFamily="34" charset="0"/>
                <a:ea typeface="Calibri" pitchFamily="34" charset="-122"/>
                <a:cs typeface="Calibri" pitchFamily="34" charset="-120"/>
              </a:rPr>
              <a:t>1</a:t>
            </a:r>
            <a:endParaRPr lang="en-US" sz="2400" dirty="0"/>
          </a:p>
        </p:txBody>
      </p:sp>
      <p:sp>
        <p:nvSpPr>
          <p:cNvPr id="4" name="anim1"/>
          <p:cNvSpPr/>
          <p:nvPr/>
        </p:nvSpPr>
        <p:spPr>
          <a:xfrm>
            <a:off x="1097280" y="1371600"/>
            <a:ext cx="7498080" cy="822960"/>
          </a:xfrm>
          <a:prstGeom prst="rect">
            <a:avLst/>
          </a:prstGeom>
          <a:noFill/>
          <a:ln/>
        </p:spPr>
        <p:txBody>
          <a:bodyPr wrap="square" lIns="0" tIns="0" rIns="0" bIns="0" rtlCol="0" anchor="t"/>
          <a:lstStyle/>
          <a:p>
            <a:pPr indent="0" marL="0">
              <a:buNone/>
            </a:pPr>
            <a:r>
              <a:rPr lang="en-US" sz="2000" b="1" dirty="0">
                <a:solidFill>
                  <a:srgbClr val="000000"/>
                </a:solidFill>
                <a:latin typeface="Calibri" pitchFamily="34" charset="0"/>
                <a:ea typeface="Calibri" pitchFamily="34" charset="-122"/>
                <a:cs typeface="Calibri" pitchFamily="34" charset="-120"/>
              </a:rPr>
              <a:t>The implementation is correct</a:t>
            </a:r>
            <a:endParaRPr lang="en-US" sz="2000" dirty="0"/>
          </a:p>
          <a:p>
            <a:pPr indent="0" marL="0">
              <a:buNone/>
            </a:pPr>
            <a:r>
              <a:rPr lang="en-US" sz="1600" dirty="0">
                <a:solidFill>
                  <a:srgbClr val="000000"/>
                </a:solidFill>
                <a:latin typeface="Calibri" pitchFamily="34" charset="0"/>
                <a:ea typeface="Calibri" pitchFamily="34" charset="-122"/>
                <a:cs typeface="Calibri" pitchFamily="34" charset="-120"/>
              </a:rPr>
              <a:t>A gate-level circuit that matches theory to 9 decimals at every iteration.</a:t>
            </a:r>
            <a:endParaRPr lang="en-US" sz="2000" dirty="0"/>
          </a:p>
        </p:txBody>
      </p:sp>
      <p:sp>
        <p:nvSpPr>
          <p:cNvPr id="5" name="anim2"/>
          <p:cNvSpPr/>
          <p:nvPr/>
        </p:nvSpPr>
        <p:spPr>
          <a:xfrm>
            <a:off x="548640" y="2423160"/>
            <a:ext cx="457200" cy="457200"/>
          </a:xfrm>
          <a:prstGeom prst="rect">
            <a:avLst/>
          </a:prstGeom>
          <a:noFill/>
          <a:ln/>
        </p:spPr>
        <p:txBody>
          <a:bodyPr wrap="square" lIns="0" tIns="0" rIns="0" bIns="0" rtlCol="0" anchor="t"/>
          <a:lstStyle/>
          <a:p>
            <a:pPr indent="0" marL="0">
              <a:buNone/>
            </a:pPr>
            <a:r>
              <a:rPr lang="en-US" sz="2400" b="1" dirty="0">
                <a:solidFill>
                  <a:srgbClr val="000000"/>
                </a:solidFill>
                <a:latin typeface="Calibri" pitchFamily="34" charset="0"/>
                <a:ea typeface="Calibri" pitchFamily="34" charset="-122"/>
                <a:cs typeface="Calibri" pitchFamily="34" charset="-120"/>
              </a:rPr>
              <a:t>2</a:t>
            </a:r>
            <a:endParaRPr lang="en-US" sz="2400" dirty="0"/>
          </a:p>
        </p:txBody>
      </p:sp>
      <p:sp>
        <p:nvSpPr>
          <p:cNvPr id="6" name="anim2"/>
          <p:cNvSpPr/>
          <p:nvPr/>
        </p:nvSpPr>
        <p:spPr>
          <a:xfrm>
            <a:off x="1097280" y="2423160"/>
            <a:ext cx="7498080" cy="822960"/>
          </a:xfrm>
          <a:prstGeom prst="rect">
            <a:avLst/>
          </a:prstGeom>
          <a:noFill/>
          <a:ln/>
        </p:spPr>
        <p:txBody>
          <a:bodyPr wrap="square" lIns="0" tIns="0" rIns="0" bIns="0" rtlCol="0" anchor="t"/>
          <a:lstStyle/>
          <a:p>
            <a:pPr indent="0" marL="0">
              <a:buNone/>
            </a:pPr>
            <a:r>
              <a:rPr lang="en-US" sz="2000" b="1" dirty="0">
                <a:solidFill>
                  <a:srgbClr val="000000"/>
                </a:solidFill>
                <a:latin typeface="Calibri" pitchFamily="34" charset="0"/>
                <a:ea typeface="Calibri" pitchFamily="34" charset="-122"/>
                <a:cs typeface="Calibri" pitchFamily="34" charset="-120"/>
              </a:rPr>
              <a:t>The query advantage is real, quadratic and optimal</a:t>
            </a:r>
            <a:endParaRPr lang="en-US" sz="2000" dirty="0"/>
          </a:p>
          <a:p>
            <a:pPr indent="0" marL="0">
              <a:buNone/>
            </a:pPr>
            <a:r>
              <a:rPr lang="en-US" sz="1600" dirty="0">
                <a:solidFill>
                  <a:srgbClr val="000000"/>
                </a:solidFill>
                <a:latin typeface="Calibri" pitchFamily="34" charset="0"/>
                <a:ea typeface="Calibri" pitchFamily="34" charset="-122"/>
                <a:cs typeface="Calibri" pitchFamily="34" charset="-120"/>
              </a:rPr>
              <a:t>82× fewer queries at n = 14, growing as √N.</a:t>
            </a:r>
            <a:endParaRPr lang="en-US" sz="2000" dirty="0"/>
          </a:p>
        </p:txBody>
      </p:sp>
      <p:sp>
        <p:nvSpPr>
          <p:cNvPr id="7" name="anim3"/>
          <p:cNvSpPr/>
          <p:nvPr/>
        </p:nvSpPr>
        <p:spPr>
          <a:xfrm>
            <a:off x="548640" y="3474720"/>
            <a:ext cx="457200" cy="457200"/>
          </a:xfrm>
          <a:prstGeom prst="rect">
            <a:avLst/>
          </a:prstGeom>
          <a:noFill/>
          <a:ln/>
        </p:spPr>
        <p:txBody>
          <a:bodyPr wrap="square" lIns="0" tIns="0" rIns="0" bIns="0" rtlCol="0" anchor="t"/>
          <a:lstStyle/>
          <a:p>
            <a:pPr indent="0" marL="0">
              <a:buNone/>
            </a:pPr>
            <a:r>
              <a:rPr lang="en-US" sz="2400" b="1" dirty="0">
                <a:solidFill>
                  <a:srgbClr val="000000"/>
                </a:solidFill>
                <a:latin typeface="Calibri" pitchFamily="34" charset="0"/>
                <a:ea typeface="Calibri" pitchFamily="34" charset="-122"/>
                <a:cs typeface="Calibri" pitchFamily="34" charset="-120"/>
              </a:rPr>
              <a:t>3</a:t>
            </a:r>
            <a:endParaRPr lang="en-US" sz="2400" dirty="0"/>
          </a:p>
        </p:txBody>
      </p:sp>
      <p:sp>
        <p:nvSpPr>
          <p:cNvPr id="8" name="anim3"/>
          <p:cNvSpPr/>
          <p:nvPr/>
        </p:nvSpPr>
        <p:spPr>
          <a:xfrm>
            <a:off x="1097280" y="3474720"/>
            <a:ext cx="7498080" cy="822960"/>
          </a:xfrm>
          <a:prstGeom prst="rect">
            <a:avLst/>
          </a:prstGeom>
          <a:noFill/>
          <a:ln/>
        </p:spPr>
        <p:txBody>
          <a:bodyPr wrap="square" lIns="0" tIns="0" rIns="0" bIns="0" rtlCol="0" anchor="t"/>
          <a:lstStyle/>
          <a:p>
            <a:pPr indent="0" marL="0">
              <a:buNone/>
            </a:pPr>
            <a:r>
              <a:rPr lang="en-US" sz="2000" b="1" dirty="0">
                <a:solidFill>
                  <a:srgbClr val="000000"/>
                </a:solidFill>
                <a:latin typeface="Calibri" pitchFamily="34" charset="0"/>
                <a:ea typeface="Calibri" pitchFamily="34" charset="-122"/>
                <a:cs typeface="Calibri" pitchFamily="34" charset="-120"/>
              </a:rPr>
              <a:t>It is not yet a practical advantage</a:t>
            </a:r>
            <a:endParaRPr lang="en-US" sz="2000" dirty="0"/>
          </a:p>
          <a:p>
            <a:pPr indent="0" marL="0">
              <a:buNone/>
            </a:pPr>
            <a:r>
              <a:rPr lang="en-US" sz="1600" dirty="0">
                <a:solidFill>
                  <a:srgbClr val="000000"/>
                </a:solidFill>
                <a:latin typeface="Calibri" pitchFamily="34" charset="0"/>
                <a:ea typeface="Calibri" pitchFamily="34" charset="-122"/>
                <a:cs typeface="Calibri" pitchFamily="34" charset="-120"/>
              </a:rPr>
              <a:t>Circuit depth, noise and oracle cost dominate; it needs error-corrected hardware.</a:t>
            </a:r>
            <a:endParaRPr lang="en-US" sz="20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00000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p:tgtEl>
                                          <p:spTgt spid="5"/>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childTnLst>
                                </p:cTn>
                              </p:par>
                            </p:childTnLst>
                          </p:cTn>
                        </p:par>
                        <p:par>
                          <p:cTn id="18" fill="hold">
                            <p:stCondLst>
                              <p:cond delay="1000"/>
                            </p:stCondLst>
                            <p:childTnLst>
                              <p:par>
                                <p:cTn id="19" presetID="10" presetClass="entr" presetSubtype="0" fill="hold" grpId="0" nodeType="after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500"/>
                                        <p:tgtEl>
                                          <p:spTgt spid="7"/>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5" grpId="0"/>
      <p:bldP spid="6" grpId="0"/>
      <p:bldP spid="7" grpId="0"/>
      <p:bldP spid="8"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Quantum Search Lab (GrovX): Grover’s Search Algorithm</dc:title>
  <dc:subject>PptxGenJS Presentation</dc:subject>
  <dc:creator>PptxGenJS</dc:creator>
  <cp:lastModifiedBy>PptxGenJS</cp:lastModifiedBy>
  <cp:revision>1</cp:revision>
  <dcterms:created xsi:type="dcterms:W3CDTF">2026-09-20T11:49:41Z</dcterms:created>
  <dcterms:modified xsi:type="dcterms:W3CDTF">2026-09-20T11:49:41Z</dcterms:modified>
</cp:coreProperties>
</file>