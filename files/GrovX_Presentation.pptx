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Classical (N+1)/2</c:v>
                </c:pt>
              </c:strCache>
            </c:strRef>
          </c:tx>
          <c:spPr>
            <a:solidFill>
              <a:srgbClr val="6B7280"/>
            </a:solidFill>
            <a:ln w="3810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7280"/>
              </a:solidFill>
              <a:ln w="9525" cap="flat">
                <a:solidFill>
                  <a:srgbClr val="6B7280"/>
                </a:solidFill>
                <a:prstDash val="solid"/>
                <a:round/>
              </a:ln>
              <a:effectLst/>
            </c:spPr>
          </c:marker>
          <c:cat>
            <c:multiLvlStrRef>
              <c:f>Sheet1!$A$2:$A$40</c:f>
              <c:multiLvlStrCache>
                <c:ptCount val="39"/>
                <c:lvl>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pt idx="30">
                    <c:v>32</c:v>
                  </c:pt>
                  <c:pt idx="31">
                    <c:v>33</c:v>
                  </c:pt>
                  <c:pt idx="32">
                    <c:v>34</c:v>
                  </c:pt>
                  <c:pt idx="33">
                    <c:v>35</c:v>
                  </c:pt>
                  <c:pt idx="34">
                    <c:v>36</c:v>
                  </c:pt>
                  <c:pt idx="35">
                    <c:v>37</c:v>
                  </c:pt>
                  <c:pt idx="36">
                    <c:v>38</c:v>
                  </c:pt>
                  <c:pt idx="37">
                    <c:v>39</c:v>
                  </c:pt>
                  <c:pt idx="38">
                    <c:v>40</c:v>
                  </c:pt>
                </c:lvl>
              </c:multiLvlStrCache>
            </c:multiLvlStrRef>
          </c:cat>
          <c:val>
            <c:numRef>
              <c:f>Sheet1!$B$2:$B$40</c:f>
              <c:numCache>
                <c:formatCode>General</c:formatCode>
                <c:ptCount val="39"/>
                <c:pt idx="0">
                  <c:v>2.5</c:v>
                </c:pt>
                <c:pt idx="1">
                  <c:v>4.5</c:v>
                </c:pt>
                <c:pt idx="2">
                  <c:v>8.5</c:v>
                </c:pt>
                <c:pt idx="3">
                  <c:v>16.5</c:v>
                </c:pt>
                <c:pt idx="4">
                  <c:v>32.5</c:v>
                </c:pt>
                <c:pt idx="5">
                  <c:v>64.5</c:v>
                </c:pt>
                <c:pt idx="6">
                  <c:v>128.5</c:v>
                </c:pt>
                <c:pt idx="7">
                  <c:v>256.5</c:v>
                </c:pt>
                <c:pt idx="8">
                  <c:v>512.5</c:v>
                </c:pt>
                <c:pt idx="9">
                  <c:v>1024.5</c:v>
                </c:pt>
                <c:pt idx="10">
                  <c:v>2048.5</c:v>
                </c:pt>
                <c:pt idx="11">
                  <c:v>4096.5</c:v>
                </c:pt>
                <c:pt idx="12">
                  <c:v>8192.5</c:v>
                </c:pt>
                <c:pt idx="13">
                  <c:v>16384.5</c:v>
                </c:pt>
                <c:pt idx="14">
                  <c:v>32768.5</c:v>
                </c:pt>
                <c:pt idx="15">
                  <c:v>65536.5</c:v>
                </c:pt>
                <c:pt idx="16">
                  <c:v>131072.5</c:v>
                </c:pt>
                <c:pt idx="17">
                  <c:v>262144.5</c:v>
                </c:pt>
                <c:pt idx="18">
                  <c:v>524288.5</c:v>
                </c:pt>
                <c:pt idx="19">
                  <c:v>1048576.5</c:v>
                </c:pt>
                <c:pt idx="20">
                  <c:v>2097152.5</c:v>
                </c:pt>
                <c:pt idx="21">
                  <c:v>4194304.5</c:v>
                </c:pt>
                <c:pt idx="22">
                  <c:v>8388608.5</c:v>
                </c:pt>
                <c:pt idx="23">
                  <c:v>16777216.5</c:v>
                </c:pt>
                <c:pt idx="24">
                  <c:v>33554432.5</c:v>
                </c:pt>
                <c:pt idx="25">
                  <c:v>67108864.5</c:v>
                </c:pt>
                <c:pt idx="26">
                  <c:v>134217728.5</c:v>
                </c:pt>
                <c:pt idx="27">
                  <c:v>268435456.5</c:v>
                </c:pt>
                <c:pt idx="28">
                  <c:v>536870912.5</c:v>
                </c:pt>
                <c:pt idx="29">
                  <c:v>1073741824.5</c:v>
                </c:pt>
                <c:pt idx="30">
                  <c:v>2147483648.5</c:v>
                </c:pt>
                <c:pt idx="31">
                  <c:v>4294967296.5</c:v>
                </c:pt>
                <c:pt idx="32">
                  <c:v>8589934592.5</c:v>
                </c:pt>
                <c:pt idx="33">
                  <c:v>17179869184.5</c:v>
                </c:pt>
                <c:pt idx="34">
                  <c:v>34359738368.5</c:v>
                </c:pt>
                <c:pt idx="35">
                  <c:v>68719476736.5</c:v>
                </c:pt>
                <c:pt idx="36">
                  <c:v>137438953472.5</c:v>
                </c:pt>
                <c:pt idx="37">
                  <c:v>274877906944.5</c:v>
                </c:pt>
                <c:pt idx="38">
                  <c:v>549755813888.5</c:v>
                </c:pt>
              </c:numCache>
            </c:numRef>
          </c:val>
          <c:smooth val="0"/>
        </c:ser>
        <c:ser>
          <c:idx val="1"/>
          <c:order val="1"/>
          <c:tx>
            <c:strRef>
              <c:f>Sheet1!$C$1</c:f>
              <c:strCache>
                <c:ptCount val="1"/>
                <c:pt idx="0">
                  <c:v>Grover (π/4)√N</c:v>
                </c:pt>
              </c:strCache>
            </c:strRef>
          </c:tx>
          <c:spPr>
            <a:solidFill>
              <a:srgbClr val="1D3F6E"/>
            </a:solidFill>
            <a:ln w="38100" cap="flat">
              <a:solidFill>
                <a:srgbClr val="1D3F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D3F6E"/>
              </a:solidFill>
              <a:ln w="9525" cap="flat">
                <a:solidFill>
                  <a:srgbClr val="1D3F6E"/>
                </a:solidFill>
                <a:prstDash val="solid"/>
                <a:round/>
              </a:ln>
              <a:effectLst/>
            </c:spPr>
          </c:marker>
          <c:cat>
            <c:multiLvlStrRef>
              <c:f>Sheet1!$A$2:$A$40</c:f>
              <c:multiLvlStrCache>
                <c:ptCount val="39"/>
                <c:lvl>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pt idx="19">
                    <c:v>21</c:v>
                  </c:pt>
                  <c:pt idx="20">
                    <c:v>22</c:v>
                  </c:pt>
                  <c:pt idx="21">
                    <c:v>23</c:v>
                  </c:pt>
                  <c:pt idx="22">
                    <c:v>24</c:v>
                  </c:pt>
                  <c:pt idx="23">
                    <c:v>25</c:v>
                  </c:pt>
                  <c:pt idx="24">
                    <c:v>26</c:v>
                  </c:pt>
                  <c:pt idx="25">
                    <c:v>27</c:v>
                  </c:pt>
                  <c:pt idx="26">
                    <c:v>28</c:v>
                  </c:pt>
                  <c:pt idx="27">
                    <c:v>29</c:v>
                  </c:pt>
                  <c:pt idx="28">
                    <c:v>30</c:v>
                  </c:pt>
                  <c:pt idx="29">
                    <c:v>31</c:v>
                  </c:pt>
                  <c:pt idx="30">
                    <c:v>32</c:v>
                  </c:pt>
                  <c:pt idx="31">
                    <c:v>33</c:v>
                  </c:pt>
                  <c:pt idx="32">
                    <c:v>34</c:v>
                  </c:pt>
                  <c:pt idx="33">
                    <c:v>35</c:v>
                  </c:pt>
                  <c:pt idx="34">
                    <c:v>36</c:v>
                  </c:pt>
                  <c:pt idx="35">
                    <c:v>37</c:v>
                  </c:pt>
                  <c:pt idx="36">
                    <c:v>38</c:v>
                  </c:pt>
                  <c:pt idx="37">
                    <c:v>39</c:v>
                  </c:pt>
                  <c:pt idx="38">
                    <c:v>40</c:v>
                  </c:pt>
                </c:lvl>
              </c:multiLvlStrCache>
            </c:multiLvlStrRef>
          </c:cat>
          <c:val>
            <c:numRef>
              <c:f>Sheet1!$C$2:$C$40</c:f>
              <c:numCache>
                <c:formatCode>General</c:formatCode>
                <c:ptCount val="39"/>
                <c:pt idx="0">
                  <c:v>1</c:v>
                </c:pt>
                <c:pt idx="1">
                  <c:v>2</c:v>
                </c:pt>
                <c:pt idx="2">
                  <c:v>3</c:v>
                </c:pt>
                <c:pt idx="3">
                  <c:v>4</c:v>
                </c:pt>
                <c:pt idx="4">
                  <c:v>6</c:v>
                </c:pt>
                <c:pt idx="5">
                  <c:v>8</c:v>
                </c:pt>
                <c:pt idx="6">
                  <c:v>12</c:v>
                </c:pt>
                <c:pt idx="7">
                  <c:v>17</c:v>
                </c:pt>
                <c:pt idx="8">
                  <c:v>25</c:v>
                </c:pt>
                <c:pt idx="9">
                  <c:v>35</c:v>
                </c:pt>
                <c:pt idx="10">
                  <c:v>50</c:v>
                </c:pt>
                <c:pt idx="11">
                  <c:v>71</c:v>
                </c:pt>
                <c:pt idx="12">
                  <c:v>100</c:v>
                </c:pt>
                <c:pt idx="13">
                  <c:v>142</c:v>
                </c:pt>
                <c:pt idx="14">
                  <c:v>201</c:v>
                </c:pt>
                <c:pt idx="15">
                  <c:v>284</c:v>
                </c:pt>
                <c:pt idx="16">
                  <c:v>402</c:v>
                </c:pt>
                <c:pt idx="17">
                  <c:v>568</c:v>
                </c:pt>
                <c:pt idx="18">
                  <c:v>804</c:v>
                </c:pt>
                <c:pt idx="19">
                  <c:v>1137</c:v>
                </c:pt>
                <c:pt idx="20">
                  <c:v>1608</c:v>
                </c:pt>
                <c:pt idx="21">
                  <c:v>2274</c:v>
                </c:pt>
                <c:pt idx="22">
                  <c:v>3216</c:v>
                </c:pt>
                <c:pt idx="23">
                  <c:v>4549</c:v>
                </c:pt>
                <c:pt idx="24">
                  <c:v>6433</c:v>
                </c:pt>
                <c:pt idx="25">
                  <c:v>9099</c:v>
                </c:pt>
                <c:pt idx="26">
                  <c:v>12867</c:v>
                </c:pt>
                <c:pt idx="27">
                  <c:v>18198</c:v>
                </c:pt>
                <c:pt idx="28">
                  <c:v>25735</c:v>
                </c:pt>
                <c:pt idx="29">
                  <c:v>36396</c:v>
                </c:pt>
                <c:pt idx="30">
                  <c:v>51471</c:v>
                </c:pt>
                <c:pt idx="31">
                  <c:v>72792</c:v>
                </c:pt>
                <c:pt idx="32">
                  <c:v>102943</c:v>
                </c:pt>
                <c:pt idx="33">
                  <c:v>145584</c:v>
                </c:pt>
                <c:pt idx="34">
                  <c:v>205887</c:v>
                </c:pt>
                <c:pt idx="35">
                  <c:v>291168</c:v>
                </c:pt>
                <c:pt idx="36">
                  <c:v>411774</c:v>
                </c:pt>
                <c:pt idx="37">
                  <c:v>582337</c:v>
                </c:pt>
                <c:pt idx="38">
                  <c:v>823549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472"/>
                    </a:solidFill>
                    <a:latin typeface="Arial"/>
                  </a:defRPr>
                </a:pPr>
                <a:r>
                  <a:rPr sz="1100" b="0" i="0" u="none" strike="noStrike">
                    <a:solidFill>
                      <a:srgbClr val="5B6472"/>
                    </a:solidFill>
                    <a:latin typeface="Arial"/>
                  </a:rPr>
                  <a:t>qubits n  (N = 2ⁿ)</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tickLblSkip val="4"/>
      </c:catAx>
      <c:valAx>
        <c:axId val="2094734552"/>
        <c:scaling>
          <c:logBase val="10"/>
          <c:orientation val="minMax"/>
        </c:scaling>
        <c:delete val="0"/>
        <c:axPos val="l"/>
        <c:majorGridlines>
          <c:spPr>
            <a:ln w="9525" cap="flat">
              <a:solidFill>
                <a:srgbClr val="E3E6EA"/>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queries (log scale)</a:t>
                </a:r>
              </a:p>
            </c:rich>
          </c:tx>
          <c:layout/>
          <c:overlay val="0"/>
        </c:title>
        <c:numFmt formatCode="0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4181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I implemented Grover’s search algorithm as a real quantum circuit on a simulator, compared it with ordinary classical search, and measured what it would cost on real hardware. The website is live at the address on the slide and everything I show today comes from it. The bars on the right are the idea of the whole talk: many equal items, and one marked item whose amplitude gets pushed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without any quantum words first. Imagine a lock that only says open or denied. If you have N possible codes and no clue, you try them one by one, which takes about N over 2 attempts on average. The same shape appears for finding a record in an unsorted table or a key of a cipher. Grover’s algorithm needs only about 0.785 times the square root of N queries. That is a quadratic improvement, and it is important to say it is not exponential, because examiners often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One: Hadamard gates put the register in an equal superposition, so every item has the same tiny amplitude. Two: the oracle marks the secret by flipping the sign of its amplitude; nothing is measurable yet. Three: the diffusion step reflects every amplitude about the average; because the secret is now below average, it ends far above it. Repeat about pi over four times root N. The picture on the right is the geometric reason it works: two reflections make a rotation by 2 theta, so the state turns steadily toward the secret. If you rotate too far it turns past the secret, so you must stop at the right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circuit for three qubits with the secret 101. The red box is the oracle: an X gate on the qubit where the secret has a zero, then a multi-controlled Z, then the X again. That flips the sign of exactly one state. The blue box is the diffusion step: H, X, multi-controlled Z, X, H on all qubits. Repeat those two boxes. In my code these are literally lists of gates that the simulator executes one by one, so it is a real circuit simulation and not a shortcut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has six pages: Home, Algorithm, Lab, Benchmarks, Resources and Evaluation. The Lab runs classical search and Grover side by side. A controller in the browser runs both, times them, samples measurements and draws charts. To be sure the circuit is right I wrote twelve automated tests. The key one runs the full circuit for several sizes and compares the success probability after every iteration with the theoretical formula; they agree to nine decimal places. So the results I show 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simulation for 32 items. Panel by panel you can see the red bar growing and the others shrinking. Below are the probabilities of measuring the secret after each iteration: about 3 percent to start, then 26, 60, 90, and 99.9 percent after four iterations. A classical search would need about 16 tries on average. This is the live demo on the Lab page, where you can change the number of qubits and the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grey line is classical search, the blue line is Grover, on a log scale so you can see both. The gap widens with size: 82 times fewer queries at 14 qubits, about 650 times at 20 qubits. I measured the classical numbers by actually running linear search 2000 times per size and the Grover numbers by running the circuit; the lines beyond 14 qubits are the formulas. Success probability at the optimal iteration count is at least 99.5 percent for five qubits and up. For very small sizes it is a little lower, for example 94.5 percent at three qubits, because the number of iterations must be a whole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part. If I time the classical search and my simulation of Grover on the same laptop, the simulation is thousands of times slower. That is expected, not a failure: a simulator has to store and update all 2 to the n amplitudes for every gate, while a real quantum computer holds them in n qubits. So the advantage of Grover is in the number of oracle queries on quantum hardware, not in simulator wall-clock time. Saying this clearly makes the evaluation more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Qubits are not the problem: 14 qubits of data need 26 logical qubits with ancillas. Circuit length is. Grover at 14 qubits needs 100 iterations and around 30,000 two-qubit gates. If every gate fails with probability 10 to the minus 3, which is roughly the best today, the whole circuit almost never works. You need around 10 to the minus 6 for it to work. Even then, under my model the quantum run is faster and reliable only for about 14 to 21 qubits with a simple oracle, and if the oracle is a realistic hash-like circuit of 5,000 Toffoli gates, there is no such window. These resource figures are estimates with stated assumptions; they show trends, not vendor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summary. The important rows: results are probabilistic instead of exact, you need to know how many secrets there are to choose the number of iterations, the oracle must be built as a reversible quantum circuit, parallelism is worse for Grover, and it is very sensitive to errors because circuits are deep. Hardware today cannot run this at useful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points. One: the implementation is correct, verified against the formula. Two: the advantage is real but quadratic, and provably optimal for unstructured search. Three: today it is not a practical advantage, because circuits are deep, noise is high and the oracle for a real problem is expensive; it needs error-corrected quantum computers. Its value now is as a foundation, as a building block for other algorithms, and as the reason symmetric keys are recommended to be doubled in length.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340"/>
        </a:solidFill>
      </p:bgPr>
    </p:bg>
    <p:spTree>
      <p:nvGrpSpPr>
        <p:cNvPr id="1" name=""/>
        <p:cNvGrpSpPr/>
        <p:nvPr/>
      </p:nvGrpSpPr>
      <p:grpSpPr>
        <a:xfrm>
          <a:off x="0" y="0"/>
          <a:ext cx="0" cy="0"/>
          <a:chOff x="0" y="0"/>
          <a:chExt cx="0" cy="0"/>
        </a:xfrm>
      </p:grpSpPr>
      <p:sp>
        <p:nvSpPr>
          <p:cNvPr id="2" name="Text 0"/>
          <p:cNvSpPr txBox="1"/>
          <p:nvPr/>
        </p:nvSpPr>
        <p:spPr>
          <a:xfrm>
            <a:off x="548640" y="914400"/>
            <a:ext cx="5120640" cy="14630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Quantum</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Search Lab</a:t>
            </a:r>
            <a:endParaRPr lang="en-US" sz="4600" dirty="0"/>
          </a:p>
        </p:txBody>
      </p:sp>
      <p:sp>
        <p:nvSpPr>
          <p:cNvPr id="3" name="Text 1"/>
          <p:cNvSpPr txBox="1"/>
          <p:nvPr/>
        </p:nvSpPr>
        <p:spPr>
          <a:xfrm>
            <a:off x="548640" y="2606040"/>
            <a:ext cx="5029200" cy="9144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An application-driven implementation and evaluation of Grover’s search algorithm</a:t>
            </a:r>
            <a:endParaRPr lang="en-US" sz="2000" dirty="0"/>
          </a:p>
        </p:txBody>
      </p:sp>
      <p:sp>
        <p:nvSpPr>
          <p:cNvPr id="4" name="Text 2"/>
          <p:cNvSpPr txBox="1"/>
          <p:nvPr/>
        </p:nvSpPr>
        <p:spPr>
          <a:xfrm>
            <a:off x="548640" y="4114800"/>
            <a:ext cx="5029200" cy="274320"/>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Quantum Computing  ·  Course project</a:t>
            </a:r>
            <a:endParaRPr lang="en-US" sz="1300" dirty="0"/>
          </a:p>
        </p:txBody>
      </p:sp>
      <p:sp>
        <p:nvSpPr>
          <p:cNvPr id="5" name="Text 3"/>
          <p:cNvSpPr txBox="1"/>
          <p:nvPr/>
        </p:nvSpPr>
        <p:spPr>
          <a:xfrm>
            <a:off x="548640" y="4434840"/>
            <a:ext cx="5029200" cy="274320"/>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Kavin-JS.github.io/GrovX</a:t>
            </a:r>
            <a:endParaRPr lang="en-US" sz="1300" dirty="0"/>
          </a:p>
        </p:txBody>
      </p:sp>
      <p:sp>
        <p:nvSpPr>
          <p:cNvPr id="6" name="Shape 4"/>
          <p:cNvSpPr/>
          <p:nvPr/>
        </p:nvSpPr>
        <p:spPr>
          <a:xfrm>
            <a:off x="5989320" y="3337560"/>
            <a:ext cx="100584" cy="411480"/>
          </a:xfrm>
          <a:prstGeom prst="rect">
            <a:avLst/>
          </a:prstGeom>
          <a:solidFill>
            <a:srgbClr val="4B6B93"/>
          </a:solidFill>
          <a:ln w="12700">
            <a:solidFill>
              <a:srgbClr val="4B6B93"/>
            </a:solidFill>
            <a:prstDash val="solid"/>
          </a:ln>
        </p:spPr>
      </p:sp>
      <p:sp>
        <p:nvSpPr>
          <p:cNvPr id="7" name="Shape 5"/>
          <p:cNvSpPr/>
          <p:nvPr/>
        </p:nvSpPr>
        <p:spPr>
          <a:xfrm>
            <a:off x="6135624" y="3337560"/>
            <a:ext cx="100584" cy="411480"/>
          </a:xfrm>
          <a:prstGeom prst="rect">
            <a:avLst/>
          </a:prstGeom>
          <a:solidFill>
            <a:srgbClr val="4B6B93"/>
          </a:solidFill>
          <a:ln w="12700">
            <a:solidFill>
              <a:srgbClr val="4B6B93"/>
            </a:solidFill>
            <a:prstDash val="solid"/>
          </a:ln>
        </p:spPr>
      </p:sp>
      <p:sp>
        <p:nvSpPr>
          <p:cNvPr id="8" name="Shape 6"/>
          <p:cNvSpPr/>
          <p:nvPr/>
        </p:nvSpPr>
        <p:spPr>
          <a:xfrm>
            <a:off x="6281928" y="3337560"/>
            <a:ext cx="100584" cy="411480"/>
          </a:xfrm>
          <a:prstGeom prst="rect">
            <a:avLst/>
          </a:prstGeom>
          <a:solidFill>
            <a:srgbClr val="4B6B93"/>
          </a:solidFill>
          <a:ln w="12700">
            <a:solidFill>
              <a:srgbClr val="4B6B93"/>
            </a:solidFill>
            <a:prstDash val="solid"/>
          </a:ln>
        </p:spPr>
      </p:sp>
      <p:sp>
        <p:nvSpPr>
          <p:cNvPr id="9" name="Shape 7"/>
          <p:cNvSpPr/>
          <p:nvPr/>
        </p:nvSpPr>
        <p:spPr>
          <a:xfrm>
            <a:off x="6428232" y="3337560"/>
            <a:ext cx="100584" cy="411480"/>
          </a:xfrm>
          <a:prstGeom prst="rect">
            <a:avLst/>
          </a:prstGeom>
          <a:solidFill>
            <a:srgbClr val="4B6B93"/>
          </a:solidFill>
          <a:ln w="12700">
            <a:solidFill>
              <a:srgbClr val="4B6B93"/>
            </a:solidFill>
            <a:prstDash val="solid"/>
          </a:ln>
        </p:spPr>
      </p:sp>
      <p:sp>
        <p:nvSpPr>
          <p:cNvPr id="10" name="Shape 8"/>
          <p:cNvSpPr/>
          <p:nvPr/>
        </p:nvSpPr>
        <p:spPr>
          <a:xfrm>
            <a:off x="6574536" y="3337560"/>
            <a:ext cx="100584" cy="411480"/>
          </a:xfrm>
          <a:prstGeom prst="rect">
            <a:avLst/>
          </a:prstGeom>
          <a:solidFill>
            <a:srgbClr val="4B6B93"/>
          </a:solidFill>
          <a:ln w="12700">
            <a:solidFill>
              <a:srgbClr val="4B6B93"/>
            </a:solidFill>
            <a:prstDash val="solid"/>
          </a:ln>
        </p:spPr>
      </p:sp>
      <p:sp>
        <p:nvSpPr>
          <p:cNvPr id="11" name="Shape 9"/>
          <p:cNvSpPr/>
          <p:nvPr/>
        </p:nvSpPr>
        <p:spPr>
          <a:xfrm>
            <a:off x="6720840" y="3337560"/>
            <a:ext cx="100584" cy="411480"/>
          </a:xfrm>
          <a:prstGeom prst="rect">
            <a:avLst/>
          </a:prstGeom>
          <a:solidFill>
            <a:srgbClr val="4B6B93"/>
          </a:solidFill>
          <a:ln w="12700">
            <a:solidFill>
              <a:srgbClr val="4B6B93"/>
            </a:solidFill>
            <a:prstDash val="solid"/>
          </a:ln>
        </p:spPr>
      </p:sp>
      <p:sp>
        <p:nvSpPr>
          <p:cNvPr id="12" name="Shape 10"/>
          <p:cNvSpPr/>
          <p:nvPr/>
        </p:nvSpPr>
        <p:spPr>
          <a:xfrm>
            <a:off x="6867144" y="3337560"/>
            <a:ext cx="100584" cy="411480"/>
          </a:xfrm>
          <a:prstGeom prst="rect">
            <a:avLst/>
          </a:prstGeom>
          <a:solidFill>
            <a:srgbClr val="4B6B93"/>
          </a:solidFill>
          <a:ln w="12700">
            <a:solidFill>
              <a:srgbClr val="4B6B93"/>
            </a:solidFill>
            <a:prstDash val="solid"/>
          </a:ln>
        </p:spPr>
      </p:sp>
      <p:sp>
        <p:nvSpPr>
          <p:cNvPr id="13" name="Shape 11"/>
          <p:cNvSpPr/>
          <p:nvPr/>
        </p:nvSpPr>
        <p:spPr>
          <a:xfrm>
            <a:off x="7013448" y="3337560"/>
            <a:ext cx="100584" cy="411480"/>
          </a:xfrm>
          <a:prstGeom prst="rect">
            <a:avLst/>
          </a:prstGeom>
          <a:solidFill>
            <a:srgbClr val="4B6B93"/>
          </a:solidFill>
          <a:ln w="12700">
            <a:solidFill>
              <a:srgbClr val="4B6B93"/>
            </a:solidFill>
            <a:prstDash val="solid"/>
          </a:ln>
        </p:spPr>
      </p:sp>
      <p:sp>
        <p:nvSpPr>
          <p:cNvPr id="14" name="Shape 12"/>
          <p:cNvSpPr/>
          <p:nvPr/>
        </p:nvSpPr>
        <p:spPr>
          <a:xfrm>
            <a:off x="7159752" y="3337560"/>
            <a:ext cx="100584" cy="411480"/>
          </a:xfrm>
          <a:prstGeom prst="rect">
            <a:avLst/>
          </a:prstGeom>
          <a:solidFill>
            <a:srgbClr val="4B6B93"/>
          </a:solidFill>
          <a:ln w="12700">
            <a:solidFill>
              <a:srgbClr val="4B6B93"/>
            </a:solidFill>
            <a:prstDash val="solid"/>
          </a:ln>
        </p:spPr>
      </p:sp>
      <p:sp>
        <p:nvSpPr>
          <p:cNvPr id="15" name="Shape 13"/>
          <p:cNvSpPr/>
          <p:nvPr/>
        </p:nvSpPr>
        <p:spPr>
          <a:xfrm>
            <a:off x="7306056" y="3337560"/>
            <a:ext cx="100584" cy="411480"/>
          </a:xfrm>
          <a:prstGeom prst="rect">
            <a:avLst/>
          </a:prstGeom>
          <a:solidFill>
            <a:srgbClr val="4B6B93"/>
          </a:solidFill>
          <a:ln w="12700">
            <a:solidFill>
              <a:srgbClr val="4B6B93"/>
            </a:solidFill>
            <a:prstDash val="solid"/>
          </a:ln>
        </p:spPr>
      </p:sp>
      <p:sp>
        <p:nvSpPr>
          <p:cNvPr id="16" name="Shape 14"/>
          <p:cNvSpPr/>
          <p:nvPr/>
        </p:nvSpPr>
        <p:spPr>
          <a:xfrm>
            <a:off x="7452360" y="3337560"/>
            <a:ext cx="100584" cy="411480"/>
          </a:xfrm>
          <a:prstGeom prst="rect">
            <a:avLst/>
          </a:prstGeom>
          <a:solidFill>
            <a:srgbClr val="4B6B93"/>
          </a:solidFill>
          <a:ln w="12700">
            <a:solidFill>
              <a:srgbClr val="4B6B93"/>
            </a:solidFill>
            <a:prstDash val="solid"/>
          </a:ln>
        </p:spPr>
      </p:sp>
      <p:sp>
        <p:nvSpPr>
          <p:cNvPr id="17" name="Shape 15"/>
          <p:cNvSpPr/>
          <p:nvPr/>
        </p:nvSpPr>
        <p:spPr>
          <a:xfrm>
            <a:off x="7598664" y="3337560"/>
            <a:ext cx="100584" cy="411480"/>
          </a:xfrm>
          <a:prstGeom prst="rect">
            <a:avLst/>
          </a:prstGeom>
          <a:solidFill>
            <a:srgbClr val="4B6B93"/>
          </a:solidFill>
          <a:ln w="12700">
            <a:solidFill>
              <a:srgbClr val="4B6B93"/>
            </a:solidFill>
            <a:prstDash val="solid"/>
          </a:ln>
        </p:spPr>
      </p:sp>
      <p:sp>
        <p:nvSpPr>
          <p:cNvPr id="18" name="Shape 16"/>
          <p:cNvSpPr/>
          <p:nvPr/>
        </p:nvSpPr>
        <p:spPr>
          <a:xfrm>
            <a:off x="7744968" y="3337560"/>
            <a:ext cx="100584" cy="411480"/>
          </a:xfrm>
          <a:prstGeom prst="rect">
            <a:avLst/>
          </a:prstGeom>
          <a:solidFill>
            <a:srgbClr val="4B6B93"/>
          </a:solidFill>
          <a:ln w="12700">
            <a:solidFill>
              <a:srgbClr val="4B6B93"/>
            </a:solidFill>
            <a:prstDash val="solid"/>
          </a:ln>
        </p:spPr>
      </p:sp>
      <p:sp>
        <p:nvSpPr>
          <p:cNvPr id="19" name="Shape 17"/>
          <p:cNvSpPr/>
          <p:nvPr/>
        </p:nvSpPr>
        <p:spPr>
          <a:xfrm>
            <a:off x="7891272" y="1463040"/>
            <a:ext cx="100584" cy="2286000"/>
          </a:xfrm>
          <a:prstGeom prst="rect">
            <a:avLst/>
          </a:prstGeom>
          <a:solidFill>
            <a:srgbClr val="E5484D"/>
          </a:solidFill>
          <a:ln w="12700">
            <a:solidFill>
              <a:srgbClr val="E5484D"/>
            </a:solidFill>
            <a:prstDash val="solid"/>
          </a:ln>
        </p:spPr>
      </p:sp>
      <p:sp>
        <p:nvSpPr>
          <p:cNvPr id="20" name="Shape 18"/>
          <p:cNvSpPr/>
          <p:nvPr/>
        </p:nvSpPr>
        <p:spPr>
          <a:xfrm>
            <a:off x="8037576" y="3337560"/>
            <a:ext cx="100584" cy="411480"/>
          </a:xfrm>
          <a:prstGeom prst="rect">
            <a:avLst/>
          </a:prstGeom>
          <a:solidFill>
            <a:srgbClr val="4B6B93"/>
          </a:solidFill>
          <a:ln w="12700">
            <a:solidFill>
              <a:srgbClr val="4B6B93"/>
            </a:solidFill>
            <a:prstDash val="solid"/>
          </a:ln>
        </p:spPr>
      </p:sp>
      <p:sp>
        <p:nvSpPr>
          <p:cNvPr id="21" name="Shape 19"/>
          <p:cNvSpPr/>
          <p:nvPr/>
        </p:nvSpPr>
        <p:spPr>
          <a:xfrm>
            <a:off x="8183880" y="3337560"/>
            <a:ext cx="100584" cy="411480"/>
          </a:xfrm>
          <a:prstGeom prst="rect">
            <a:avLst/>
          </a:prstGeom>
          <a:solidFill>
            <a:srgbClr val="4B6B93"/>
          </a:solidFill>
          <a:ln w="12700">
            <a:solidFill>
              <a:srgbClr val="4B6B93"/>
            </a:solidFill>
            <a:prstDash val="solid"/>
          </a:ln>
        </p:spPr>
      </p:sp>
      <p:sp>
        <p:nvSpPr>
          <p:cNvPr id="22" name="Shape 20"/>
          <p:cNvSpPr/>
          <p:nvPr/>
        </p:nvSpPr>
        <p:spPr>
          <a:xfrm>
            <a:off x="8330184" y="3337560"/>
            <a:ext cx="100584" cy="411480"/>
          </a:xfrm>
          <a:prstGeom prst="rect">
            <a:avLst/>
          </a:prstGeom>
          <a:solidFill>
            <a:srgbClr val="4B6B93"/>
          </a:solidFill>
          <a:ln w="12700">
            <a:solidFill>
              <a:srgbClr val="4B6B93"/>
            </a:solidFill>
            <a:prstDash val="solid"/>
          </a:ln>
        </p:spPr>
      </p:sp>
      <p:sp>
        <p:nvSpPr>
          <p:cNvPr id="23" name="Shape 21"/>
          <p:cNvSpPr/>
          <p:nvPr/>
        </p:nvSpPr>
        <p:spPr>
          <a:xfrm>
            <a:off x="8476488" y="3337560"/>
            <a:ext cx="100584" cy="411480"/>
          </a:xfrm>
          <a:prstGeom prst="rect">
            <a:avLst/>
          </a:prstGeom>
          <a:solidFill>
            <a:srgbClr val="4B6B93"/>
          </a:solidFill>
          <a:ln w="12700">
            <a:solidFill>
              <a:srgbClr val="4B6B93"/>
            </a:solidFill>
            <a:prstDash val="solid"/>
          </a:ln>
        </p:spPr>
      </p:sp>
      <p:sp>
        <p:nvSpPr>
          <p:cNvPr id="24" name="Shape 22"/>
          <p:cNvSpPr/>
          <p:nvPr/>
        </p:nvSpPr>
        <p:spPr>
          <a:xfrm>
            <a:off x="8622792" y="3337560"/>
            <a:ext cx="100584" cy="411480"/>
          </a:xfrm>
          <a:prstGeom prst="rect">
            <a:avLst/>
          </a:prstGeom>
          <a:solidFill>
            <a:srgbClr val="4B6B93"/>
          </a:solidFill>
          <a:ln w="12700">
            <a:solidFill>
              <a:srgbClr val="4B6B93"/>
            </a:solidFill>
            <a:prstDash val="solid"/>
          </a:ln>
        </p:spPr>
      </p:sp>
      <p:sp>
        <p:nvSpPr>
          <p:cNvPr id="25" name="Shape 23"/>
          <p:cNvSpPr/>
          <p:nvPr/>
        </p:nvSpPr>
        <p:spPr>
          <a:xfrm>
            <a:off x="8769096" y="3337560"/>
            <a:ext cx="100584" cy="411480"/>
          </a:xfrm>
          <a:prstGeom prst="rect">
            <a:avLst/>
          </a:prstGeom>
          <a:solidFill>
            <a:srgbClr val="4B6B93"/>
          </a:solidFill>
          <a:ln w="12700">
            <a:solidFill>
              <a:srgbClr val="4B6B9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The problem: one item among N</a:t>
            </a:r>
            <a:endParaRPr lang="en-US" sz="3000" dirty="0"/>
          </a:p>
        </p:txBody>
      </p:sp>
      <p:sp>
        <p:nvSpPr>
          <p:cNvPr id="3" name="Text 1"/>
          <p:cNvSpPr txBox="1"/>
          <p:nvPr/>
        </p:nvSpPr>
        <p:spPr>
          <a:xfrm>
            <a:off x="457200" y="1188720"/>
            <a:ext cx="4206240" cy="914400"/>
          </a:xfrm>
          <a:prstGeom prst="rect">
            <a:avLst/>
          </a:prstGeom>
          <a:noFill/>
          <a:ln/>
        </p:spPr>
        <p:txBody>
          <a:bodyPr wrap="square" lIns="0" tIns="0" rIns="0" bIns="0" rtlCol="0" anchor="t"/>
          <a:lstStyle/>
          <a:p>
            <a:pPr indent="0" marL="0">
              <a:buNone/>
            </a:pPr>
            <a:r>
              <a:rPr lang="en-US" sz="1700" dirty="0">
                <a:solidFill>
                  <a:srgbClr val="14181F"/>
                </a:solidFill>
                <a:latin typeface="Calibri" pitchFamily="34" charset="0"/>
                <a:ea typeface="Calibri" pitchFamily="34" charset="-122"/>
                <a:cs typeface="Calibri" pitchFamily="34" charset="-120"/>
              </a:rPr>
              <a:t>You have N = 2ⁿ candidates and a yes/no check. Nothing else: no order, no structure to exploit.</a:t>
            </a:r>
            <a:endParaRPr lang="en-US" sz="1700" dirty="0"/>
          </a:p>
        </p:txBody>
      </p:sp>
      <p:sp>
        <p:nvSpPr>
          <p:cNvPr id="4" name="Shape 2"/>
          <p:cNvSpPr/>
          <p:nvPr/>
        </p:nvSpPr>
        <p:spPr>
          <a:xfrm>
            <a:off x="457200" y="2286000"/>
            <a:ext cx="4206240" cy="640080"/>
          </a:xfrm>
          <a:prstGeom prst="rect">
            <a:avLst/>
          </a:prstGeom>
          <a:solidFill>
            <a:srgbClr val="F4F5F7"/>
          </a:solidFill>
          <a:ln w="12700">
            <a:solidFill>
              <a:srgbClr val="F4F5F7"/>
            </a:solidFill>
            <a:prstDash val="solid"/>
          </a:ln>
        </p:spPr>
      </p:sp>
      <p:sp>
        <p:nvSpPr>
          <p:cNvPr id="5" name="Text 3"/>
          <p:cNvSpPr txBox="1"/>
          <p:nvPr/>
        </p:nvSpPr>
        <p:spPr>
          <a:xfrm>
            <a:off x="640080" y="2340864"/>
            <a:ext cx="3840480" cy="274320"/>
          </a:xfrm>
          <a:prstGeom prst="rect">
            <a:avLst/>
          </a:prstGeom>
          <a:noFill/>
          <a:ln/>
        </p:spPr>
        <p:txBody>
          <a:bodyPr wrap="square" lIns="0" tIns="0" rIns="0" bIns="0" rtlCol="0" anchor="ctr"/>
          <a:lstStyle/>
          <a:p>
            <a:pPr indent="0" marL="0">
              <a:buNone/>
            </a:pPr>
            <a:r>
              <a:rPr lang="en-US" sz="1500" b="1" dirty="0">
                <a:solidFill>
                  <a:srgbClr val="0E2340"/>
                </a:solidFill>
                <a:latin typeface="Calibri" pitchFamily="34" charset="0"/>
                <a:ea typeface="Calibri" pitchFamily="34" charset="-122"/>
                <a:cs typeface="Calibri" pitchFamily="34" charset="-120"/>
              </a:rPr>
              <a:t>Unlock code</a:t>
            </a:r>
            <a:endParaRPr lang="en-US" sz="1500" dirty="0"/>
          </a:p>
        </p:txBody>
      </p:sp>
      <p:sp>
        <p:nvSpPr>
          <p:cNvPr id="6" name="Text 4"/>
          <p:cNvSpPr txBox="1"/>
          <p:nvPr/>
        </p:nvSpPr>
        <p:spPr>
          <a:xfrm>
            <a:off x="640080" y="2615184"/>
            <a:ext cx="3840480" cy="256032"/>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the lock says open or denied</a:t>
            </a:r>
            <a:endParaRPr lang="en-US" sz="1200" dirty="0"/>
          </a:p>
        </p:txBody>
      </p:sp>
      <p:sp>
        <p:nvSpPr>
          <p:cNvPr id="7" name="Shape 5"/>
          <p:cNvSpPr/>
          <p:nvPr/>
        </p:nvSpPr>
        <p:spPr>
          <a:xfrm>
            <a:off x="457200" y="3063240"/>
            <a:ext cx="4206240" cy="640080"/>
          </a:xfrm>
          <a:prstGeom prst="rect">
            <a:avLst/>
          </a:prstGeom>
          <a:solidFill>
            <a:srgbClr val="F4F5F7"/>
          </a:solidFill>
          <a:ln w="12700">
            <a:solidFill>
              <a:srgbClr val="F4F5F7"/>
            </a:solidFill>
            <a:prstDash val="solid"/>
          </a:ln>
        </p:spPr>
      </p:sp>
      <p:sp>
        <p:nvSpPr>
          <p:cNvPr id="8" name="Text 6"/>
          <p:cNvSpPr txBox="1"/>
          <p:nvPr/>
        </p:nvSpPr>
        <p:spPr>
          <a:xfrm>
            <a:off x="640080" y="3118104"/>
            <a:ext cx="3840480" cy="274320"/>
          </a:xfrm>
          <a:prstGeom prst="rect">
            <a:avLst/>
          </a:prstGeom>
          <a:noFill/>
          <a:ln/>
        </p:spPr>
        <p:txBody>
          <a:bodyPr wrap="square" lIns="0" tIns="0" rIns="0" bIns="0" rtlCol="0" anchor="ctr"/>
          <a:lstStyle/>
          <a:p>
            <a:pPr indent="0" marL="0">
              <a:buNone/>
            </a:pPr>
            <a:r>
              <a:rPr lang="en-US" sz="1500" b="1" dirty="0">
                <a:solidFill>
                  <a:srgbClr val="0E2340"/>
                </a:solidFill>
                <a:latin typeface="Calibri" pitchFamily="34" charset="0"/>
                <a:ea typeface="Calibri" pitchFamily="34" charset="-122"/>
                <a:cs typeface="Calibri" pitchFamily="34" charset="-120"/>
              </a:rPr>
              <a:t>Database record</a:t>
            </a:r>
            <a:endParaRPr lang="en-US" sz="1500" dirty="0"/>
          </a:p>
        </p:txBody>
      </p:sp>
      <p:sp>
        <p:nvSpPr>
          <p:cNvPr id="9" name="Text 7"/>
          <p:cNvSpPr txBox="1"/>
          <p:nvPr/>
        </p:nvSpPr>
        <p:spPr>
          <a:xfrm>
            <a:off x="640080" y="3392424"/>
            <a:ext cx="3840480" cy="256032"/>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does record x match the query?</a:t>
            </a:r>
            <a:endParaRPr lang="en-US" sz="1200" dirty="0"/>
          </a:p>
        </p:txBody>
      </p:sp>
      <p:sp>
        <p:nvSpPr>
          <p:cNvPr id="10" name="Shape 8"/>
          <p:cNvSpPr/>
          <p:nvPr/>
        </p:nvSpPr>
        <p:spPr>
          <a:xfrm>
            <a:off x="457200" y="3840480"/>
            <a:ext cx="4206240" cy="640080"/>
          </a:xfrm>
          <a:prstGeom prst="rect">
            <a:avLst/>
          </a:prstGeom>
          <a:solidFill>
            <a:srgbClr val="F4F5F7"/>
          </a:solidFill>
          <a:ln w="12700">
            <a:solidFill>
              <a:srgbClr val="F4F5F7"/>
            </a:solidFill>
            <a:prstDash val="solid"/>
          </a:ln>
        </p:spPr>
      </p:sp>
      <p:sp>
        <p:nvSpPr>
          <p:cNvPr id="11" name="Text 9"/>
          <p:cNvSpPr txBox="1"/>
          <p:nvPr/>
        </p:nvSpPr>
        <p:spPr>
          <a:xfrm>
            <a:off x="640080" y="3895344"/>
            <a:ext cx="3840480" cy="274320"/>
          </a:xfrm>
          <a:prstGeom prst="rect">
            <a:avLst/>
          </a:prstGeom>
          <a:noFill/>
          <a:ln/>
        </p:spPr>
        <p:txBody>
          <a:bodyPr wrap="square" lIns="0" tIns="0" rIns="0" bIns="0" rtlCol="0" anchor="ctr"/>
          <a:lstStyle/>
          <a:p>
            <a:pPr indent="0" marL="0">
              <a:buNone/>
            </a:pPr>
            <a:r>
              <a:rPr lang="en-US" sz="1500" b="1" dirty="0">
                <a:solidFill>
                  <a:srgbClr val="0E2340"/>
                </a:solidFill>
                <a:latin typeface="Calibri" pitchFamily="34" charset="0"/>
                <a:ea typeface="Calibri" pitchFamily="34" charset="-122"/>
                <a:cs typeface="Calibri" pitchFamily="34" charset="-120"/>
              </a:rPr>
              <a:t>Cipher key</a:t>
            </a:r>
            <a:endParaRPr lang="en-US" sz="1500" dirty="0"/>
          </a:p>
        </p:txBody>
      </p:sp>
      <p:sp>
        <p:nvSpPr>
          <p:cNvPr id="12" name="Text 10"/>
          <p:cNvSpPr txBox="1"/>
          <p:nvPr/>
        </p:nvSpPr>
        <p:spPr>
          <a:xfrm>
            <a:off x="640080" y="4169664"/>
            <a:ext cx="3840480" cy="256032"/>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does this key decrypt correctly?</a:t>
            </a:r>
            <a:endParaRPr lang="en-US" sz="1200" dirty="0"/>
          </a:p>
        </p:txBody>
      </p:sp>
      <p:sp>
        <p:nvSpPr>
          <p:cNvPr id="13" name="Shape 11"/>
          <p:cNvSpPr/>
          <p:nvPr/>
        </p:nvSpPr>
        <p:spPr>
          <a:xfrm>
            <a:off x="5212080" y="1325880"/>
            <a:ext cx="3474720" cy="1051560"/>
          </a:xfrm>
          <a:prstGeom prst="rect">
            <a:avLst/>
          </a:prstGeom>
          <a:solidFill>
            <a:srgbClr val="F4F5F7"/>
          </a:solidFill>
          <a:ln w="12700">
            <a:solidFill>
              <a:srgbClr val="F4F5F7"/>
            </a:solidFill>
            <a:prstDash val="solid"/>
          </a:ln>
        </p:spPr>
      </p:sp>
      <p:sp>
        <p:nvSpPr>
          <p:cNvPr id="14" name="Text 12"/>
          <p:cNvSpPr txBox="1"/>
          <p:nvPr/>
        </p:nvSpPr>
        <p:spPr>
          <a:xfrm>
            <a:off x="5394960" y="1399032"/>
            <a:ext cx="3108960" cy="548640"/>
          </a:xfrm>
          <a:prstGeom prst="rect">
            <a:avLst/>
          </a:prstGeom>
          <a:noFill/>
          <a:ln/>
        </p:spPr>
        <p:txBody>
          <a:bodyPr wrap="square" lIns="0" tIns="0" rIns="0" bIns="0" rtlCol="0" anchor="ctr"/>
          <a:lstStyle/>
          <a:p>
            <a:pPr indent="0" marL="0">
              <a:buNone/>
            </a:pPr>
            <a:r>
              <a:rPr lang="en-US" sz="4000" b="1" dirty="0">
                <a:solidFill>
                  <a:srgbClr val="6B7280"/>
                </a:solidFill>
                <a:latin typeface="Cambria" pitchFamily="34" charset="0"/>
                <a:ea typeface="Cambria" pitchFamily="34" charset="-122"/>
                <a:cs typeface="Cambria" pitchFamily="34" charset="-120"/>
              </a:rPr>
              <a:t>≈ N / 2</a:t>
            </a:r>
            <a:endParaRPr lang="en-US" sz="4000" dirty="0"/>
          </a:p>
        </p:txBody>
      </p:sp>
      <p:sp>
        <p:nvSpPr>
          <p:cNvPr id="15" name="Text 13"/>
          <p:cNvSpPr txBox="1"/>
          <p:nvPr/>
        </p:nvSpPr>
        <p:spPr>
          <a:xfrm>
            <a:off x="5394960" y="1947672"/>
            <a:ext cx="310896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checks on average with classical linear search</a:t>
            </a:r>
            <a:endParaRPr lang="en-US" sz="1150" dirty="0"/>
          </a:p>
        </p:txBody>
      </p:sp>
      <p:sp>
        <p:nvSpPr>
          <p:cNvPr id="16" name="Shape 14"/>
          <p:cNvSpPr/>
          <p:nvPr/>
        </p:nvSpPr>
        <p:spPr>
          <a:xfrm>
            <a:off x="5212080" y="2697480"/>
            <a:ext cx="3474720" cy="1051560"/>
          </a:xfrm>
          <a:prstGeom prst="rect">
            <a:avLst/>
          </a:prstGeom>
          <a:solidFill>
            <a:srgbClr val="F4F5F7"/>
          </a:solidFill>
          <a:ln w="12700">
            <a:solidFill>
              <a:srgbClr val="F4F5F7"/>
            </a:solidFill>
            <a:prstDash val="solid"/>
          </a:ln>
        </p:spPr>
      </p:sp>
      <p:sp>
        <p:nvSpPr>
          <p:cNvPr id="17" name="Text 15"/>
          <p:cNvSpPr txBox="1"/>
          <p:nvPr/>
        </p:nvSpPr>
        <p:spPr>
          <a:xfrm>
            <a:off x="5394960" y="2770632"/>
            <a:ext cx="3108960" cy="548640"/>
          </a:xfrm>
          <a:prstGeom prst="rect">
            <a:avLst/>
          </a:prstGeom>
          <a:noFill/>
          <a:ln/>
        </p:spPr>
        <p:txBody>
          <a:bodyPr wrap="square" lIns="0" tIns="0" rIns="0" bIns="0" rtlCol="0" anchor="ctr"/>
          <a:lstStyle/>
          <a:p>
            <a:pPr indent="0" marL="0">
              <a:buNone/>
            </a:pPr>
            <a:r>
              <a:rPr lang="en-US" sz="4000" b="1" dirty="0">
                <a:solidFill>
                  <a:srgbClr val="1D3F6E"/>
                </a:solidFill>
                <a:latin typeface="Cambria" pitchFamily="34" charset="0"/>
                <a:ea typeface="Cambria" pitchFamily="34" charset="-122"/>
                <a:cs typeface="Cambria" pitchFamily="34" charset="-120"/>
              </a:rPr>
              <a:t>≈ 0.785·√N</a:t>
            </a:r>
            <a:endParaRPr lang="en-US" sz="4000" dirty="0"/>
          </a:p>
        </p:txBody>
      </p:sp>
      <p:sp>
        <p:nvSpPr>
          <p:cNvPr id="18" name="Text 16"/>
          <p:cNvSpPr txBox="1"/>
          <p:nvPr/>
        </p:nvSpPr>
        <p:spPr>
          <a:xfrm>
            <a:off x="5394960" y="3319272"/>
            <a:ext cx="310896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oracle queries with Grover’s algorithm</a:t>
            </a:r>
            <a:endParaRPr lang="en-US" sz="1150" dirty="0"/>
          </a:p>
        </p:txBody>
      </p:sp>
      <p:sp>
        <p:nvSpPr>
          <p:cNvPr id="19" name="Text 17"/>
          <p:cNvSpPr txBox="1"/>
          <p:nvPr/>
        </p:nvSpPr>
        <p:spPr>
          <a:xfrm>
            <a:off x="5212080" y="3977640"/>
            <a:ext cx="3474720" cy="365760"/>
          </a:xfrm>
          <a:prstGeom prst="rect">
            <a:avLst/>
          </a:prstGeom>
          <a:noFill/>
          <a:ln/>
        </p:spPr>
        <p:txBody>
          <a:bodyPr wrap="square" lIns="0" tIns="0" rIns="0" bIns="0" rtlCol="0" anchor="ctr"/>
          <a:lstStyle/>
          <a:p>
            <a:pPr indent="0" marL="0">
              <a:buNone/>
            </a:pPr>
            <a:r>
              <a:rPr lang="en-US" sz="1400" i="1" dirty="0">
                <a:solidFill>
                  <a:srgbClr val="B3261E"/>
                </a:solidFill>
                <a:latin typeface="Calibri" pitchFamily="34" charset="0"/>
                <a:ea typeface="Calibri" pitchFamily="34" charset="-122"/>
                <a:cs typeface="Calibri" pitchFamily="34" charset="-120"/>
              </a:rPr>
              <a:t>A quadratic reduction. Not exponential.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How Grover’s algorithm works</a:t>
            </a:r>
            <a:endParaRPr lang="en-US" sz="3000" dirty="0"/>
          </a:p>
        </p:txBody>
      </p:sp>
      <p:sp>
        <p:nvSpPr>
          <p:cNvPr id="3" name="Text 1"/>
          <p:cNvSpPr txBox="1"/>
          <p:nvPr/>
        </p:nvSpPr>
        <p:spPr>
          <a:xfrm>
            <a:off x="457200" y="1234440"/>
            <a:ext cx="548640" cy="457200"/>
          </a:xfrm>
          <a:prstGeom prst="rect">
            <a:avLst/>
          </a:prstGeom>
          <a:noFill/>
          <a:ln/>
        </p:spPr>
        <p:txBody>
          <a:bodyPr wrap="square" lIns="0" tIns="0" rIns="0" bIns="0" rtlCol="0" anchor="t"/>
          <a:lstStyle/>
          <a:p>
            <a:pPr indent="0" marL="0">
              <a:buNone/>
            </a:pPr>
            <a:r>
              <a:rPr lang="en-US" sz="2400" b="1" dirty="0">
                <a:solidFill>
                  <a:srgbClr val="B3261E"/>
                </a:solidFill>
                <a:latin typeface="Cambria" pitchFamily="34" charset="0"/>
                <a:ea typeface="Cambria" pitchFamily="34" charset="-122"/>
                <a:cs typeface="Cambria" pitchFamily="34" charset="-120"/>
              </a:rPr>
              <a:t>01</a:t>
            </a:r>
            <a:endParaRPr lang="en-US" sz="2400" dirty="0"/>
          </a:p>
        </p:txBody>
      </p:sp>
      <p:sp>
        <p:nvSpPr>
          <p:cNvPr id="4" name="Text 2"/>
          <p:cNvSpPr txBox="1"/>
          <p:nvPr/>
        </p:nvSpPr>
        <p:spPr>
          <a:xfrm>
            <a:off x="1097280" y="1234440"/>
            <a:ext cx="3383280" cy="292608"/>
          </a:xfrm>
          <a:prstGeom prst="rect">
            <a:avLst/>
          </a:prstGeom>
          <a:noFill/>
          <a:ln/>
        </p:spPr>
        <p:txBody>
          <a:bodyPr wrap="square" lIns="0" tIns="0" rIns="0" bIns="0" rtlCol="0" anchor="ctr"/>
          <a:lstStyle/>
          <a:p>
            <a:pPr indent="0" marL="0">
              <a:buNone/>
            </a:pPr>
            <a:r>
              <a:rPr lang="en-US" sz="1600" b="1" dirty="0">
                <a:solidFill>
                  <a:srgbClr val="0E2340"/>
                </a:solidFill>
                <a:latin typeface="Calibri" pitchFamily="34" charset="0"/>
                <a:ea typeface="Calibri" pitchFamily="34" charset="-122"/>
                <a:cs typeface="Calibri" pitchFamily="34" charset="-120"/>
              </a:rPr>
              <a:t>Superpose</a:t>
            </a:r>
            <a:endParaRPr lang="en-US" sz="1600" dirty="0"/>
          </a:p>
        </p:txBody>
      </p:sp>
      <p:sp>
        <p:nvSpPr>
          <p:cNvPr id="5" name="Text 3"/>
          <p:cNvSpPr txBox="1"/>
          <p:nvPr/>
        </p:nvSpPr>
        <p:spPr>
          <a:xfrm>
            <a:off x="1097280" y="1527048"/>
            <a:ext cx="3383280"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Hadamard on every qubit: all N items get equal amplitude.</a:t>
            </a:r>
            <a:endParaRPr lang="en-US" sz="1250" dirty="0"/>
          </a:p>
        </p:txBody>
      </p:sp>
      <p:sp>
        <p:nvSpPr>
          <p:cNvPr id="6" name="Text 4"/>
          <p:cNvSpPr txBox="1"/>
          <p:nvPr/>
        </p:nvSpPr>
        <p:spPr>
          <a:xfrm>
            <a:off x="457200" y="2103120"/>
            <a:ext cx="548640" cy="457200"/>
          </a:xfrm>
          <a:prstGeom prst="rect">
            <a:avLst/>
          </a:prstGeom>
          <a:noFill/>
          <a:ln/>
        </p:spPr>
        <p:txBody>
          <a:bodyPr wrap="square" lIns="0" tIns="0" rIns="0" bIns="0" rtlCol="0" anchor="t"/>
          <a:lstStyle/>
          <a:p>
            <a:pPr indent="0" marL="0">
              <a:buNone/>
            </a:pPr>
            <a:r>
              <a:rPr lang="en-US" sz="2400" b="1" dirty="0">
                <a:solidFill>
                  <a:srgbClr val="B3261E"/>
                </a:solidFill>
                <a:latin typeface="Cambria" pitchFamily="34" charset="0"/>
                <a:ea typeface="Cambria" pitchFamily="34" charset="-122"/>
                <a:cs typeface="Cambria" pitchFamily="34" charset="-120"/>
              </a:rPr>
              <a:t>02</a:t>
            </a:r>
            <a:endParaRPr lang="en-US" sz="2400" dirty="0"/>
          </a:p>
        </p:txBody>
      </p:sp>
      <p:sp>
        <p:nvSpPr>
          <p:cNvPr id="7" name="Text 5"/>
          <p:cNvSpPr txBox="1"/>
          <p:nvPr/>
        </p:nvSpPr>
        <p:spPr>
          <a:xfrm>
            <a:off x="1097280" y="2103120"/>
            <a:ext cx="3383280" cy="292608"/>
          </a:xfrm>
          <a:prstGeom prst="rect">
            <a:avLst/>
          </a:prstGeom>
          <a:noFill/>
          <a:ln/>
        </p:spPr>
        <p:txBody>
          <a:bodyPr wrap="square" lIns="0" tIns="0" rIns="0" bIns="0" rtlCol="0" anchor="ctr"/>
          <a:lstStyle/>
          <a:p>
            <a:pPr indent="0" marL="0">
              <a:buNone/>
            </a:pPr>
            <a:r>
              <a:rPr lang="en-US" sz="1600" b="1" dirty="0">
                <a:solidFill>
                  <a:srgbClr val="0E2340"/>
                </a:solidFill>
                <a:latin typeface="Calibri" pitchFamily="34" charset="0"/>
                <a:ea typeface="Calibri" pitchFamily="34" charset="-122"/>
                <a:cs typeface="Calibri" pitchFamily="34" charset="-120"/>
              </a:rPr>
              <a:t>Oracle</a:t>
            </a:r>
            <a:endParaRPr lang="en-US" sz="1600" dirty="0"/>
          </a:p>
        </p:txBody>
      </p:sp>
      <p:sp>
        <p:nvSpPr>
          <p:cNvPr id="8" name="Text 6"/>
          <p:cNvSpPr txBox="1"/>
          <p:nvPr/>
        </p:nvSpPr>
        <p:spPr>
          <a:xfrm>
            <a:off x="1097280" y="2395728"/>
            <a:ext cx="3383280"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Flip the sign of the secret item’s amplitude.</a:t>
            </a:r>
            <a:endParaRPr lang="en-US" sz="1250" dirty="0"/>
          </a:p>
        </p:txBody>
      </p:sp>
      <p:sp>
        <p:nvSpPr>
          <p:cNvPr id="9" name="Text 7"/>
          <p:cNvSpPr txBox="1"/>
          <p:nvPr/>
        </p:nvSpPr>
        <p:spPr>
          <a:xfrm>
            <a:off x="457200" y="2971800"/>
            <a:ext cx="548640" cy="457200"/>
          </a:xfrm>
          <a:prstGeom prst="rect">
            <a:avLst/>
          </a:prstGeom>
          <a:noFill/>
          <a:ln/>
        </p:spPr>
        <p:txBody>
          <a:bodyPr wrap="square" lIns="0" tIns="0" rIns="0" bIns="0" rtlCol="0" anchor="t"/>
          <a:lstStyle/>
          <a:p>
            <a:pPr indent="0" marL="0">
              <a:buNone/>
            </a:pPr>
            <a:r>
              <a:rPr lang="en-US" sz="2400" b="1" dirty="0">
                <a:solidFill>
                  <a:srgbClr val="B3261E"/>
                </a:solidFill>
                <a:latin typeface="Cambria" pitchFamily="34" charset="0"/>
                <a:ea typeface="Cambria" pitchFamily="34" charset="-122"/>
                <a:cs typeface="Cambria" pitchFamily="34" charset="-120"/>
              </a:rPr>
              <a:t>03</a:t>
            </a:r>
            <a:endParaRPr lang="en-US" sz="2400" dirty="0"/>
          </a:p>
        </p:txBody>
      </p:sp>
      <p:sp>
        <p:nvSpPr>
          <p:cNvPr id="10" name="Text 8"/>
          <p:cNvSpPr txBox="1"/>
          <p:nvPr/>
        </p:nvSpPr>
        <p:spPr>
          <a:xfrm>
            <a:off x="1097280" y="2971800"/>
            <a:ext cx="3383280" cy="292608"/>
          </a:xfrm>
          <a:prstGeom prst="rect">
            <a:avLst/>
          </a:prstGeom>
          <a:noFill/>
          <a:ln/>
        </p:spPr>
        <p:txBody>
          <a:bodyPr wrap="square" lIns="0" tIns="0" rIns="0" bIns="0" rtlCol="0" anchor="ctr"/>
          <a:lstStyle/>
          <a:p>
            <a:pPr indent="0" marL="0">
              <a:buNone/>
            </a:pPr>
            <a:r>
              <a:rPr lang="en-US" sz="1600" b="1" dirty="0">
                <a:solidFill>
                  <a:srgbClr val="0E2340"/>
                </a:solidFill>
                <a:latin typeface="Calibri" pitchFamily="34" charset="0"/>
                <a:ea typeface="Calibri" pitchFamily="34" charset="-122"/>
                <a:cs typeface="Calibri" pitchFamily="34" charset="-120"/>
              </a:rPr>
              <a:t>Diffuse</a:t>
            </a:r>
            <a:endParaRPr lang="en-US" sz="1600" dirty="0"/>
          </a:p>
        </p:txBody>
      </p:sp>
      <p:sp>
        <p:nvSpPr>
          <p:cNvPr id="11" name="Text 9"/>
          <p:cNvSpPr txBox="1"/>
          <p:nvPr/>
        </p:nvSpPr>
        <p:spPr>
          <a:xfrm>
            <a:off x="1097280" y="3264408"/>
            <a:ext cx="3383280"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Reflect all amplitudes about their mean: the secret grows, others shrink.</a:t>
            </a:r>
            <a:endParaRPr lang="en-US" sz="1250" dirty="0"/>
          </a:p>
        </p:txBody>
      </p:sp>
      <p:sp>
        <p:nvSpPr>
          <p:cNvPr id="12" name="Text 10"/>
          <p:cNvSpPr txBox="1"/>
          <p:nvPr/>
        </p:nvSpPr>
        <p:spPr>
          <a:xfrm>
            <a:off x="457200" y="3840480"/>
            <a:ext cx="548640" cy="457200"/>
          </a:xfrm>
          <a:prstGeom prst="rect">
            <a:avLst/>
          </a:prstGeom>
          <a:noFill/>
          <a:ln/>
        </p:spPr>
        <p:txBody>
          <a:bodyPr wrap="square" lIns="0" tIns="0" rIns="0" bIns="0" rtlCol="0" anchor="t"/>
          <a:lstStyle/>
          <a:p>
            <a:pPr indent="0" marL="0">
              <a:buNone/>
            </a:pPr>
            <a:r>
              <a:rPr lang="en-US" sz="2400" b="1" dirty="0">
                <a:solidFill>
                  <a:srgbClr val="B3261E"/>
                </a:solidFill>
                <a:latin typeface="Cambria" pitchFamily="34" charset="0"/>
                <a:ea typeface="Cambria" pitchFamily="34" charset="-122"/>
                <a:cs typeface="Cambria" pitchFamily="34" charset="-120"/>
              </a:rPr>
              <a:t>04</a:t>
            </a:r>
            <a:endParaRPr lang="en-US" sz="2400" dirty="0"/>
          </a:p>
        </p:txBody>
      </p:sp>
      <p:sp>
        <p:nvSpPr>
          <p:cNvPr id="13" name="Text 11"/>
          <p:cNvSpPr txBox="1"/>
          <p:nvPr/>
        </p:nvSpPr>
        <p:spPr>
          <a:xfrm>
            <a:off x="1097280" y="3840480"/>
            <a:ext cx="3383280" cy="292608"/>
          </a:xfrm>
          <a:prstGeom prst="rect">
            <a:avLst/>
          </a:prstGeom>
          <a:noFill/>
          <a:ln/>
        </p:spPr>
        <p:txBody>
          <a:bodyPr wrap="square" lIns="0" tIns="0" rIns="0" bIns="0" rtlCol="0" anchor="ctr"/>
          <a:lstStyle/>
          <a:p>
            <a:pPr indent="0" marL="0">
              <a:buNone/>
            </a:pPr>
            <a:r>
              <a:rPr lang="en-US" sz="1600" b="1" dirty="0">
                <a:solidFill>
                  <a:srgbClr val="0E2340"/>
                </a:solidFill>
                <a:latin typeface="Calibri" pitchFamily="34" charset="0"/>
                <a:ea typeface="Calibri" pitchFamily="34" charset="-122"/>
                <a:cs typeface="Calibri" pitchFamily="34" charset="-120"/>
              </a:rPr>
              <a:t>Repeat, then measure</a:t>
            </a:r>
            <a:endParaRPr lang="en-US" sz="1600" dirty="0"/>
          </a:p>
        </p:txBody>
      </p:sp>
      <p:sp>
        <p:nvSpPr>
          <p:cNvPr id="14" name="Text 12"/>
          <p:cNvSpPr txBox="1"/>
          <p:nvPr/>
        </p:nvSpPr>
        <p:spPr>
          <a:xfrm>
            <a:off x="1097280" y="4133088"/>
            <a:ext cx="3383280" cy="457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About (π/4)√N rounds, then read out all qubits.</a:t>
            </a:r>
            <a:endParaRPr lang="en-US" sz="1250" dirty="0"/>
          </a:p>
        </p:txBody>
      </p:sp>
      <p:pic>
        <p:nvPicPr>
          <p:cNvPr id="15" name="Image 0" descr="fig_rotation.png">    </p:cNvPr>
          <p:cNvPicPr>
            <a:picLocks noChangeAspect="1"/>
          </p:cNvPicPr>
          <p:nvPr/>
        </p:nvPicPr>
        <p:blipFill>
          <a:blip r:embed="rId1"/>
          <a:stretch>
            <a:fillRect/>
          </a:stretch>
        </p:blipFill>
        <p:spPr>
          <a:xfrm>
            <a:off x="4754880" y="1371600"/>
            <a:ext cx="3931920" cy="2485535"/>
          </a:xfrm>
          <a:prstGeom prst="rect">
            <a:avLst/>
          </a:prstGeom>
        </p:spPr>
      </p:pic>
      <p:sp>
        <p:nvSpPr>
          <p:cNvPr id="16" name="Text 13"/>
          <p:cNvSpPr txBox="1"/>
          <p:nvPr/>
        </p:nvSpPr>
        <p:spPr>
          <a:xfrm>
            <a:off x="4754880" y="3994295"/>
            <a:ext cx="393192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Each iteration rotates the state by 2θ toward the secret. P = sin²((2k+1)θ).</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The circuit I implemented</a:t>
            </a:r>
            <a:endParaRPr lang="en-US" sz="3000" dirty="0"/>
          </a:p>
        </p:txBody>
      </p:sp>
      <p:pic>
        <p:nvPicPr>
          <p:cNvPr id="3" name="Image 0" descr="fig_circuit_gates.png">    </p:cNvPr>
          <p:cNvPicPr>
            <a:picLocks noChangeAspect="1"/>
          </p:cNvPicPr>
          <p:nvPr/>
        </p:nvPicPr>
        <p:blipFill>
          <a:blip r:embed="rId1"/>
          <a:stretch>
            <a:fillRect/>
          </a:stretch>
        </p:blipFill>
        <p:spPr>
          <a:xfrm>
            <a:off x="640080" y="1143000"/>
            <a:ext cx="7863840" cy="2484360"/>
          </a:xfrm>
          <a:prstGeom prst="rect">
            <a:avLst/>
          </a:prstGeom>
        </p:spPr>
      </p:pic>
      <p:sp>
        <p:nvSpPr>
          <p:cNvPr id="4" name="Shape 1"/>
          <p:cNvSpPr/>
          <p:nvPr/>
        </p:nvSpPr>
        <p:spPr>
          <a:xfrm>
            <a:off x="457200" y="3855960"/>
            <a:ext cx="2651760" cy="1188720"/>
          </a:xfrm>
          <a:prstGeom prst="rect">
            <a:avLst/>
          </a:prstGeom>
          <a:solidFill>
            <a:srgbClr val="F4F5F7"/>
          </a:solidFill>
          <a:ln w="12700">
            <a:solidFill>
              <a:srgbClr val="F4F5F7"/>
            </a:solidFill>
            <a:prstDash val="solid"/>
          </a:ln>
        </p:spPr>
      </p:sp>
      <p:sp>
        <p:nvSpPr>
          <p:cNvPr id="5" name="Text 2"/>
          <p:cNvSpPr txBox="1"/>
          <p:nvPr/>
        </p:nvSpPr>
        <p:spPr>
          <a:xfrm>
            <a:off x="594360" y="3947400"/>
            <a:ext cx="2377440" cy="274320"/>
          </a:xfrm>
          <a:prstGeom prst="rect">
            <a:avLst/>
          </a:prstGeom>
          <a:noFill/>
          <a:ln/>
        </p:spPr>
        <p:txBody>
          <a:bodyPr wrap="square" lIns="0" tIns="0" rIns="0" bIns="0" rtlCol="0" anchor="ctr"/>
          <a:lstStyle/>
          <a:p>
            <a:pPr indent="0" marL="0">
              <a:buNone/>
            </a:pPr>
            <a:r>
              <a:rPr lang="en-US" sz="1350" b="1" dirty="0">
                <a:solidFill>
                  <a:srgbClr val="0E2340"/>
                </a:solidFill>
                <a:latin typeface="Calibri" pitchFamily="34" charset="0"/>
                <a:ea typeface="Calibri" pitchFamily="34" charset="-122"/>
                <a:cs typeface="Calibri" pitchFamily="34" charset="-120"/>
              </a:rPr>
              <a:t>Only three gates</a:t>
            </a:r>
            <a:endParaRPr lang="en-US" sz="1350" dirty="0"/>
          </a:p>
        </p:txBody>
      </p:sp>
      <p:sp>
        <p:nvSpPr>
          <p:cNvPr id="6" name="Text 3"/>
          <p:cNvSpPr txBox="1"/>
          <p:nvPr/>
        </p:nvSpPr>
        <p:spPr>
          <a:xfrm>
            <a:off x="594360" y="4240008"/>
            <a:ext cx="2377440" cy="74980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Hadamard, Pauli-X and multi-controlled Z. All real-valued, so the simulation is exact.</a:t>
            </a:r>
            <a:endParaRPr lang="en-US" sz="1150" dirty="0"/>
          </a:p>
        </p:txBody>
      </p:sp>
      <p:sp>
        <p:nvSpPr>
          <p:cNvPr id="7" name="Shape 4"/>
          <p:cNvSpPr/>
          <p:nvPr/>
        </p:nvSpPr>
        <p:spPr>
          <a:xfrm>
            <a:off x="3291840" y="3855960"/>
            <a:ext cx="2651760" cy="1188720"/>
          </a:xfrm>
          <a:prstGeom prst="rect">
            <a:avLst/>
          </a:prstGeom>
          <a:solidFill>
            <a:srgbClr val="F4F5F7"/>
          </a:solidFill>
          <a:ln w="12700">
            <a:solidFill>
              <a:srgbClr val="F4F5F7"/>
            </a:solidFill>
            <a:prstDash val="solid"/>
          </a:ln>
        </p:spPr>
      </p:sp>
      <p:sp>
        <p:nvSpPr>
          <p:cNvPr id="8" name="Text 5"/>
          <p:cNvSpPr txBox="1"/>
          <p:nvPr/>
        </p:nvSpPr>
        <p:spPr>
          <a:xfrm>
            <a:off x="3429000" y="3947400"/>
            <a:ext cx="2377440" cy="274320"/>
          </a:xfrm>
          <a:prstGeom prst="rect">
            <a:avLst/>
          </a:prstGeom>
          <a:noFill/>
          <a:ln/>
        </p:spPr>
        <p:txBody>
          <a:bodyPr wrap="square" lIns="0" tIns="0" rIns="0" bIns="0" rtlCol="0" anchor="ctr"/>
          <a:lstStyle/>
          <a:p>
            <a:pPr indent="0" marL="0">
              <a:buNone/>
            </a:pPr>
            <a:r>
              <a:rPr lang="en-US" sz="1350" b="1" dirty="0">
                <a:solidFill>
                  <a:srgbClr val="0E2340"/>
                </a:solidFill>
                <a:latin typeface="Calibri" pitchFamily="34" charset="0"/>
                <a:ea typeface="Calibri" pitchFamily="34" charset="-122"/>
                <a:cs typeface="Calibri" pitchFamily="34" charset="-120"/>
              </a:rPr>
              <a:t>Oracle = X, MCZ, X</a:t>
            </a:r>
            <a:endParaRPr lang="en-US" sz="1350" dirty="0"/>
          </a:p>
        </p:txBody>
      </p:sp>
      <p:sp>
        <p:nvSpPr>
          <p:cNvPr id="9" name="Text 6"/>
          <p:cNvSpPr txBox="1"/>
          <p:nvPr/>
        </p:nvSpPr>
        <p:spPr>
          <a:xfrm>
            <a:off x="3429000" y="4240008"/>
            <a:ext cx="2377440" cy="74980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X gates select which bit pattern is marked; the MCZ flips its sign.</a:t>
            </a:r>
            <a:endParaRPr lang="en-US" sz="1150" dirty="0"/>
          </a:p>
        </p:txBody>
      </p:sp>
      <p:sp>
        <p:nvSpPr>
          <p:cNvPr id="10" name="Shape 7"/>
          <p:cNvSpPr/>
          <p:nvPr/>
        </p:nvSpPr>
        <p:spPr>
          <a:xfrm>
            <a:off x="6126480" y="3855960"/>
            <a:ext cx="2651760" cy="1188720"/>
          </a:xfrm>
          <a:prstGeom prst="rect">
            <a:avLst/>
          </a:prstGeom>
          <a:solidFill>
            <a:srgbClr val="F4F5F7"/>
          </a:solidFill>
          <a:ln w="12700">
            <a:solidFill>
              <a:srgbClr val="F4F5F7"/>
            </a:solidFill>
            <a:prstDash val="solid"/>
          </a:ln>
        </p:spPr>
      </p:sp>
      <p:sp>
        <p:nvSpPr>
          <p:cNvPr id="11" name="Text 8"/>
          <p:cNvSpPr txBox="1"/>
          <p:nvPr/>
        </p:nvSpPr>
        <p:spPr>
          <a:xfrm>
            <a:off x="6263640" y="3947400"/>
            <a:ext cx="2377440" cy="274320"/>
          </a:xfrm>
          <a:prstGeom prst="rect">
            <a:avLst/>
          </a:prstGeom>
          <a:noFill/>
          <a:ln/>
        </p:spPr>
        <p:txBody>
          <a:bodyPr wrap="square" lIns="0" tIns="0" rIns="0" bIns="0" rtlCol="0" anchor="ctr"/>
          <a:lstStyle/>
          <a:p>
            <a:pPr indent="0" marL="0">
              <a:buNone/>
            </a:pPr>
            <a:r>
              <a:rPr lang="en-US" sz="1350" b="1" dirty="0">
                <a:solidFill>
                  <a:srgbClr val="0E2340"/>
                </a:solidFill>
                <a:latin typeface="Calibri" pitchFamily="34" charset="0"/>
                <a:ea typeface="Calibri" pitchFamily="34" charset="-122"/>
                <a:cs typeface="Calibri" pitchFamily="34" charset="-120"/>
              </a:rPr>
              <a:t>Diffusion = H, X, MCZ, X, H</a:t>
            </a:r>
            <a:endParaRPr lang="en-US" sz="1350" dirty="0"/>
          </a:p>
        </p:txBody>
      </p:sp>
      <p:sp>
        <p:nvSpPr>
          <p:cNvPr id="12" name="Text 9"/>
          <p:cNvSpPr txBox="1"/>
          <p:nvPr/>
        </p:nvSpPr>
        <p:spPr>
          <a:xfrm>
            <a:off x="6263640" y="4240008"/>
            <a:ext cx="2377440" cy="74980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 n = 14: 100 iterations, 2,814 H, 4,200 X and 200 MCZ gates.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System and verification</a:t>
            </a:r>
            <a:endParaRPr lang="en-US" sz="3000" dirty="0"/>
          </a:p>
        </p:txBody>
      </p:sp>
      <p:pic>
        <p:nvPicPr>
          <p:cNvPr id="3" name="Image 0" descr="fig_arch.png">    </p:cNvPr>
          <p:cNvPicPr>
            <a:picLocks noChangeAspect="1"/>
          </p:cNvPicPr>
          <p:nvPr/>
        </p:nvPicPr>
        <p:blipFill>
          <a:blip r:embed="rId1"/>
          <a:stretch>
            <a:fillRect/>
          </a:stretch>
        </p:blipFill>
        <p:spPr>
          <a:xfrm>
            <a:off x="457200" y="1325880"/>
            <a:ext cx="5394960" cy="2351360"/>
          </a:xfrm>
          <a:prstGeom prst="rect">
            <a:avLst/>
          </a:prstGeom>
        </p:spPr>
      </p:pic>
      <p:sp>
        <p:nvSpPr>
          <p:cNvPr id="4" name="Text 1"/>
          <p:cNvSpPr txBox="1"/>
          <p:nvPr/>
        </p:nvSpPr>
        <p:spPr>
          <a:xfrm>
            <a:off x="457200" y="3860120"/>
            <a:ext cx="5394960" cy="64008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Everything runs in the browser: React + Vite, hosted on GitHub Pages. No backend, no database, no API keys.</a:t>
            </a:r>
            <a:endParaRPr lang="en-US" sz="1250" dirty="0"/>
          </a:p>
        </p:txBody>
      </p:sp>
      <p:sp>
        <p:nvSpPr>
          <p:cNvPr id="5" name="Shape 2"/>
          <p:cNvSpPr/>
          <p:nvPr/>
        </p:nvSpPr>
        <p:spPr>
          <a:xfrm>
            <a:off x="6217920" y="1325880"/>
            <a:ext cx="2468880" cy="1051560"/>
          </a:xfrm>
          <a:prstGeom prst="rect">
            <a:avLst/>
          </a:prstGeom>
          <a:solidFill>
            <a:srgbClr val="F4F5F7"/>
          </a:solidFill>
          <a:ln w="12700">
            <a:solidFill>
              <a:srgbClr val="F4F5F7"/>
            </a:solidFill>
            <a:prstDash val="solid"/>
          </a:ln>
        </p:spPr>
      </p:sp>
      <p:sp>
        <p:nvSpPr>
          <p:cNvPr id="6" name="Text 3"/>
          <p:cNvSpPr txBox="1"/>
          <p:nvPr/>
        </p:nvSpPr>
        <p:spPr>
          <a:xfrm>
            <a:off x="6400800" y="1399032"/>
            <a:ext cx="2103120" cy="548640"/>
          </a:xfrm>
          <a:prstGeom prst="rect">
            <a:avLst/>
          </a:prstGeom>
          <a:noFill/>
          <a:ln/>
        </p:spPr>
        <p:txBody>
          <a:bodyPr wrap="square" lIns="0" tIns="0" rIns="0" bIns="0" rtlCol="0" anchor="ctr"/>
          <a:lstStyle/>
          <a:p>
            <a:pPr indent="0" marL="0">
              <a:buNone/>
            </a:pPr>
            <a:r>
              <a:rPr lang="en-US" sz="3000" b="1" dirty="0">
                <a:solidFill>
                  <a:srgbClr val="1D3F6E"/>
                </a:solidFill>
                <a:latin typeface="Cambria" pitchFamily="34" charset="0"/>
                <a:ea typeface="Cambria" pitchFamily="34" charset="-122"/>
                <a:cs typeface="Cambria" pitchFamily="34" charset="-120"/>
              </a:rPr>
              <a:t>12 tests</a:t>
            </a:r>
            <a:endParaRPr lang="en-US" sz="3000" dirty="0"/>
          </a:p>
        </p:txBody>
      </p:sp>
      <p:sp>
        <p:nvSpPr>
          <p:cNvPr id="7" name="Text 4"/>
          <p:cNvSpPr txBox="1"/>
          <p:nvPr/>
        </p:nvSpPr>
        <p:spPr>
          <a:xfrm>
            <a:off x="6400800" y="1947672"/>
            <a:ext cx="210312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automated unit tests, all passing</a:t>
            </a:r>
            <a:endParaRPr lang="en-US" sz="1150" dirty="0"/>
          </a:p>
        </p:txBody>
      </p:sp>
      <p:sp>
        <p:nvSpPr>
          <p:cNvPr id="8" name="Shape 5"/>
          <p:cNvSpPr/>
          <p:nvPr/>
        </p:nvSpPr>
        <p:spPr>
          <a:xfrm>
            <a:off x="6217920" y="2606040"/>
            <a:ext cx="2468880" cy="1051560"/>
          </a:xfrm>
          <a:prstGeom prst="rect">
            <a:avLst/>
          </a:prstGeom>
          <a:solidFill>
            <a:srgbClr val="F4F5F7"/>
          </a:solidFill>
          <a:ln w="12700">
            <a:solidFill>
              <a:srgbClr val="F4F5F7"/>
            </a:solidFill>
            <a:prstDash val="solid"/>
          </a:ln>
        </p:spPr>
      </p:sp>
      <p:sp>
        <p:nvSpPr>
          <p:cNvPr id="9" name="Text 6"/>
          <p:cNvSpPr txBox="1"/>
          <p:nvPr/>
        </p:nvSpPr>
        <p:spPr>
          <a:xfrm>
            <a:off x="6400800" y="2679192"/>
            <a:ext cx="2103120" cy="548640"/>
          </a:xfrm>
          <a:prstGeom prst="rect">
            <a:avLst/>
          </a:prstGeom>
          <a:noFill/>
          <a:ln/>
        </p:spPr>
        <p:txBody>
          <a:bodyPr wrap="square" lIns="0" tIns="0" rIns="0" bIns="0" rtlCol="0" anchor="ctr"/>
          <a:lstStyle/>
          <a:p>
            <a:pPr indent="0" marL="0">
              <a:buNone/>
            </a:pPr>
            <a:r>
              <a:rPr lang="en-US" sz="3000" b="1" dirty="0">
                <a:solidFill>
                  <a:srgbClr val="B3261E"/>
                </a:solidFill>
                <a:latin typeface="Cambria" pitchFamily="34" charset="0"/>
                <a:ea typeface="Cambria" pitchFamily="34" charset="-122"/>
                <a:cs typeface="Cambria" pitchFamily="34" charset="-120"/>
              </a:rPr>
              <a:t>9 decimals</a:t>
            </a:r>
            <a:endParaRPr lang="en-US" sz="3000" dirty="0"/>
          </a:p>
        </p:txBody>
      </p:sp>
      <p:sp>
        <p:nvSpPr>
          <p:cNvPr id="10" name="Text 7"/>
          <p:cNvSpPr txBox="1"/>
          <p:nvPr/>
        </p:nvSpPr>
        <p:spPr>
          <a:xfrm>
            <a:off x="6400800" y="3227832"/>
            <a:ext cx="210312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simulation matches sin²((2k+1)θ) at every iteration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Watching the secret’s amplitude grow</a:t>
            </a:r>
            <a:endParaRPr lang="en-US" sz="3000" dirty="0"/>
          </a:p>
        </p:txBody>
      </p:sp>
      <p:pic>
        <p:nvPicPr>
          <p:cNvPr id="3" name="Image 0" descr="fig_amps.png">    </p:cNvPr>
          <p:cNvPicPr>
            <a:picLocks noChangeAspect="1"/>
          </p:cNvPicPr>
          <p:nvPr/>
        </p:nvPicPr>
        <p:blipFill>
          <a:blip r:embed="rId1"/>
          <a:stretch>
            <a:fillRect/>
          </a:stretch>
        </p:blipFill>
        <p:spPr>
          <a:xfrm>
            <a:off x="457200" y="1188720"/>
            <a:ext cx="8229600" cy="2085896"/>
          </a:xfrm>
          <a:prstGeom prst="rect">
            <a:avLst/>
          </a:prstGeom>
        </p:spPr>
      </p:pic>
      <p:sp>
        <p:nvSpPr>
          <p:cNvPr id="4" name="Text 1"/>
          <p:cNvSpPr txBox="1"/>
          <p:nvPr/>
        </p:nvSpPr>
        <p:spPr>
          <a:xfrm>
            <a:off x="457200" y="3548936"/>
            <a:ext cx="1463040" cy="548640"/>
          </a:xfrm>
          <a:prstGeom prst="rect">
            <a:avLst/>
          </a:prstGeom>
          <a:noFill/>
          <a:ln/>
        </p:spPr>
        <p:txBody>
          <a:bodyPr wrap="square" lIns="0" tIns="0" rIns="0" bIns="0" rtlCol="0" anchor="ctr"/>
          <a:lstStyle/>
          <a:p>
            <a:pPr indent="0" marL="0">
              <a:buNone/>
            </a:pPr>
            <a:r>
              <a:rPr lang="en-US" sz="3000" b="1" dirty="0">
                <a:solidFill>
                  <a:srgbClr val="1D3F6E"/>
                </a:solidFill>
                <a:latin typeface="Cambria" pitchFamily="34" charset="0"/>
                <a:ea typeface="Cambria" pitchFamily="34" charset="-122"/>
                <a:cs typeface="Cambria" pitchFamily="34" charset="-120"/>
              </a:rPr>
              <a:t>3.1%</a:t>
            </a:r>
            <a:endParaRPr lang="en-US" sz="3000" dirty="0"/>
          </a:p>
        </p:txBody>
      </p:sp>
      <p:sp>
        <p:nvSpPr>
          <p:cNvPr id="5" name="Text 2"/>
          <p:cNvSpPr txBox="1"/>
          <p:nvPr/>
        </p:nvSpPr>
        <p:spPr>
          <a:xfrm>
            <a:off x="457200" y="4097576"/>
            <a:ext cx="14630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k = 0</a:t>
            </a:r>
            <a:endParaRPr lang="en-US" sz="1200" dirty="0"/>
          </a:p>
        </p:txBody>
      </p:sp>
      <p:sp>
        <p:nvSpPr>
          <p:cNvPr id="6" name="Text 3"/>
          <p:cNvSpPr txBox="1"/>
          <p:nvPr/>
        </p:nvSpPr>
        <p:spPr>
          <a:xfrm>
            <a:off x="2103120" y="3548936"/>
            <a:ext cx="1463040" cy="548640"/>
          </a:xfrm>
          <a:prstGeom prst="rect">
            <a:avLst/>
          </a:prstGeom>
          <a:noFill/>
          <a:ln/>
        </p:spPr>
        <p:txBody>
          <a:bodyPr wrap="square" lIns="0" tIns="0" rIns="0" bIns="0" rtlCol="0" anchor="ctr"/>
          <a:lstStyle/>
          <a:p>
            <a:pPr indent="0" marL="0">
              <a:buNone/>
            </a:pPr>
            <a:r>
              <a:rPr lang="en-US" sz="3000" b="1" dirty="0">
                <a:solidFill>
                  <a:srgbClr val="1D3F6E"/>
                </a:solidFill>
                <a:latin typeface="Cambria" pitchFamily="34" charset="0"/>
                <a:ea typeface="Cambria" pitchFamily="34" charset="-122"/>
                <a:cs typeface="Cambria" pitchFamily="34" charset="-120"/>
              </a:rPr>
              <a:t>25.8%</a:t>
            </a:r>
            <a:endParaRPr lang="en-US" sz="3000" dirty="0"/>
          </a:p>
        </p:txBody>
      </p:sp>
      <p:sp>
        <p:nvSpPr>
          <p:cNvPr id="7" name="Text 4"/>
          <p:cNvSpPr txBox="1"/>
          <p:nvPr/>
        </p:nvSpPr>
        <p:spPr>
          <a:xfrm>
            <a:off x="2103120" y="4097576"/>
            <a:ext cx="14630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k = 1</a:t>
            </a:r>
            <a:endParaRPr lang="en-US" sz="1200" dirty="0"/>
          </a:p>
        </p:txBody>
      </p:sp>
      <p:sp>
        <p:nvSpPr>
          <p:cNvPr id="8" name="Text 5"/>
          <p:cNvSpPr txBox="1"/>
          <p:nvPr/>
        </p:nvSpPr>
        <p:spPr>
          <a:xfrm>
            <a:off x="3749040" y="3548936"/>
            <a:ext cx="1463040" cy="548640"/>
          </a:xfrm>
          <a:prstGeom prst="rect">
            <a:avLst/>
          </a:prstGeom>
          <a:noFill/>
          <a:ln/>
        </p:spPr>
        <p:txBody>
          <a:bodyPr wrap="square" lIns="0" tIns="0" rIns="0" bIns="0" rtlCol="0" anchor="ctr"/>
          <a:lstStyle/>
          <a:p>
            <a:pPr indent="0" marL="0">
              <a:buNone/>
            </a:pPr>
            <a:r>
              <a:rPr lang="en-US" sz="3000" b="1" dirty="0">
                <a:solidFill>
                  <a:srgbClr val="1D3F6E"/>
                </a:solidFill>
                <a:latin typeface="Cambria" pitchFamily="34" charset="0"/>
                <a:ea typeface="Cambria" pitchFamily="34" charset="-122"/>
                <a:cs typeface="Cambria" pitchFamily="34" charset="-120"/>
              </a:rPr>
              <a:t>60.2%</a:t>
            </a:r>
            <a:endParaRPr lang="en-US" sz="3000" dirty="0"/>
          </a:p>
        </p:txBody>
      </p:sp>
      <p:sp>
        <p:nvSpPr>
          <p:cNvPr id="9" name="Text 6"/>
          <p:cNvSpPr txBox="1"/>
          <p:nvPr/>
        </p:nvSpPr>
        <p:spPr>
          <a:xfrm>
            <a:off x="3749040" y="4097576"/>
            <a:ext cx="14630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k = 2</a:t>
            </a:r>
            <a:endParaRPr lang="en-US" sz="1200" dirty="0"/>
          </a:p>
        </p:txBody>
      </p:sp>
      <p:sp>
        <p:nvSpPr>
          <p:cNvPr id="10" name="Text 7"/>
          <p:cNvSpPr txBox="1"/>
          <p:nvPr/>
        </p:nvSpPr>
        <p:spPr>
          <a:xfrm>
            <a:off x="5394960" y="3548936"/>
            <a:ext cx="1463040" cy="548640"/>
          </a:xfrm>
          <a:prstGeom prst="rect">
            <a:avLst/>
          </a:prstGeom>
          <a:noFill/>
          <a:ln/>
        </p:spPr>
        <p:txBody>
          <a:bodyPr wrap="square" lIns="0" tIns="0" rIns="0" bIns="0" rtlCol="0" anchor="ctr"/>
          <a:lstStyle/>
          <a:p>
            <a:pPr indent="0" marL="0">
              <a:buNone/>
            </a:pPr>
            <a:r>
              <a:rPr lang="en-US" sz="3000" b="1" dirty="0">
                <a:solidFill>
                  <a:srgbClr val="1D3F6E"/>
                </a:solidFill>
                <a:latin typeface="Cambria" pitchFamily="34" charset="0"/>
                <a:ea typeface="Cambria" pitchFamily="34" charset="-122"/>
                <a:cs typeface="Cambria" pitchFamily="34" charset="-120"/>
              </a:rPr>
              <a:t>89.7%</a:t>
            </a:r>
            <a:endParaRPr lang="en-US" sz="3000" dirty="0"/>
          </a:p>
        </p:txBody>
      </p:sp>
      <p:sp>
        <p:nvSpPr>
          <p:cNvPr id="11" name="Text 8"/>
          <p:cNvSpPr txBox="1"/>
          <p:nvPr/>
        </p:nvSpPr>
        <p:spPr>
          <a:xfrm>
            <a:off x="5394960" y="4097576"/>
            <a:ext cx="14630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k = 3</a:t>
            </a:r>
            <a:endParaRPr lang="en-US" sz="1200" dirty="0"/>
          </a:p>
        </p:txBody>
      </p:sp>
      <p:sp>
        <p:nvSpPr>
          <p:cNvPr id="12" name="Text 9"/>
          <p:cNvSpPr txBox="1"/>
          <p:nvPr/>
        </p:nvSpPr>
        <p:spPr>
          <a:xfrm>
            <a:off x="7040880" y="3548936"/>
            <a:ext cx="1463040" cy="548640"/>
          </a:xfrm>
          <a:prstGeom prst="rect">
            <a:avLst/>
          </a:prstGeom>
          <a:noFill/>
          <a:ln/>
        </p:spPr>
        <p:txBody>
          <a:bodyPr wrap="square" lIns="0" tIns="0" rIns="0" bIns="0" rtlCol="0" anchor="ctr"/>
          <a:lstStyle/>
          <a:p>
            <a:pPr indent="0" marL="0">
              <a:buNone/>
            </a:pPr>
            <a:r>
              <a:rPr lang="en-US" sz="3000" b="1" dirty="0">
                <a:solidFill>
                  <a:srgbClr val="B3261E"/>
                </a:solidFill>
                <a:latin typeface="Cambria" pitchFamily="34" charset="0"/>
                <a:ea typeface="Cambria" pitchFamily="34" charset="-122"/>
                <a:cs typeface="Cambria" pitchFamily="34" charset="-120"/>
              </a:rPr>
              <a:t>99.9%</a:t>
            </a:r>
            <a:endParaRPr lang="en-US" sz="3000" dirty="0"/>
          </a:p>
        </p:txBody>
      </p:sp>
      <p:sp>
        <p:nvSpPr>
          <p:cNvPr id="13" name="Text 10"/>
          <p:cNvSpPr txBox="1"/>
          <p:nvPr/>
        </p:nvSpPr>
        <p:spPr>
          <a:xfrm>
            <a:off x="7040880" y="4097576"/>
            <a:ext cx="1463040" cy="27432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after k = 4</a:t>
            </a:r>
            <a:endParaRPr lang="en-US" sz="1200" dirty="0"/>
          </a:p>
        </p:txBody>
      </p:sp>
      <p:sp>
        <p:nvSpPr>
          <p:cNvPr id="14" name="Text 11"/>
          <p:cNvSpPr txBox="1"/>
          <p:nvPr/>
        </p:nvSpPr>
        <p:spPr>
          <a:xfrm>
            <a:off x="457200" y="4509056"/>
            <a:ext cx="8229600" cy="320040"/>
          </a:xfrm>
          <a:prstGeom prst="rect">
            <a:avLst/>
          </a:prstGeom>
          <a:noFill/>
          <a:ln/>
        </p:spPr>
        <p:txBody>
          <a:bodyPr wrap="square" lIns="0" tIns="0" rIns="0" bIns="0" rtlCol="0" anchor="ctr"/>
          <a:lstStyle/>
          <a:p>
            <a:pPr indent="0" marL="0">
              <a:buNone/>
            </a:pPr>
            <a:r>
              <a:rPr lang="en-US" sz="1300" dirty="0">
                <a:solidFill>
                  <a:srgbClr val="14181F"/>
                </a:solidFill>
                <a:latin typeface="Calibri" pitchFamily="34" charset="0"/>
                <a:ea typeface="Calibri" pitchFamily="34" charset="-122"/>
                <a:cs typeface="Calibri" pitchFamily="34" charset="-120"/>
              </a:rPr>
              <a:t>n = 5, secret item 19. Four iterations, against 16.5 classical guesses on average.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Queries: a quadratic reduction</a:t>
            </a:r>
            <a:endParaRPr lang="en-US" sz="3000" dirty="0"/>
          </a:p>
        </p:txBody>
      </p:sp>
      <p:graphicFrame>
        <p:nvGraphicFramePr>
          <p:cNvPr id="3" name="Chart 0" descr=""/>
          <p:cNvGraphicFramePr/>
          <p:nvPr/>
        </p:nvGraphicFramePr>
        <p:xfrm>
          <a:off x="365760" y="1097280"/>
          <a:ext cx="5577840" cy="36576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309360" y="1188720"/>
            <a:ext cx="2377440" cy="1051560"/>
          </a:xfrm>
          <a:prstGeom prst="rect">
            <a:avLst/>
          </a:prstGeom>
          <a:solidFill>
            <a:srgbClr val="F4F5F7"/>
          </a:solidFill>
          <a:ln w="12700">
            <a:solidFill>
              <a:srgbClr val="F4F5F7"/>
            </a:solidFill>
            <a:prstDash val="solid"/>
          </a:ln>
        </p:spPr>
      </p:sp>
      <p:sp>
        <p:nvSpPr>
          <p:cNvPr id="5" name="Text 2"/>
          <p:cNvSpPr txBox="1"/>
          <p:nvPr/>
        </p:nvSpPr>
        <p:spPr>
          <a:xfrm>
            <a:off x="6492240" y="1261872"/>
            <a:ext cx="2011680" cy="548640"/>
          </a:xfrm>
          <a:prstGeom prst="rect">
            <a:avLst/>
          </a:prstGeom>
          <a:noFill/>
          <a:ln/>
        </p:spPr>
        <p:txBody>
          <a:bodyPr wrap="square" lIns="0" tIns="0" rIns="0" bIns="0" rtlCol="0" anchor="ctr"/>
          <a:lstStyle/>
          <a:p>
            <a:pPr indent="0" marL="0">
              <a:buNone/>
            </a:pPr>
            <a:r>
              <a:rPr lang="en-US" sz="3400" b="1" dirty="0">
                <a:solidFill>
                  <a:srgbClr val="1D3F6E"/>
                </a:solidFill>
                <a:latin typeface="Cambria" pitchFamily="34" charset="0"/>
                <a:ea typeface="Cambria" pitchFamily="34" charset="-122"/>
                <a:cs typeface="Cambria" pitchFamily="34" charset="-120"/>
              </a:rPr>
              <a:t>82×</a:t>
            </a:r>
            <a:endParaRPr lang="en-US" sz="3400" dirty="0"/>
          </a:p>
        </p:txBody>
      </p:sp>
      <p:sp>
        <p:nvSpPr>
          <p:cNvPr id="6" name="Text 3"/>
          <p:cNvSpPr txBox="1"/>
          <p:nvPr/>
        </p:nvSpPr>
        <p:spPr>
          <a:xfrm>
            <a:off x="6492240" y="1810512"/>
            <a:ext cx="201168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fewer queries at n = 14 (100 vs 8,199)</a:t>
            </a:r>
            <a:endParaRPr lang="en-US" sz="1150" dirty="0"/>
          </a:p>
        </p:txBody>
      </p:sp>
      <p:sp>
        <p:nvSpPr>
          <p:cNvPr id="7" name="Shape 4"/>
          <p:cNvSpPr/>
          <p:nvPr/>
        </p:nvSpPr>
        <p:spPr>
          <a:xfrm>
            <a:off x="6309360" y="2377440"/>
            <a:ext cx="2377440" cy="1051560"/>
          </a:xfrm>
          <a:prstGeom prst="rect">
            <a:avLst/>
          </a:prstGeom>
          <a:solidFill>
            <a:srgbClr val="F4F5F7"/>
          </a:solidFill>
          <a:ln w="12700">
            <a:solidFill>
              <a:srgbClr val="F4F5F7"/>
            </a:solidFill>
            <a:prstDash val="solid"/>
          </a:ln>
        </p:spPr>
      </p:sp>
      <p:sp>
        <p:nvSpPr>
          <p:cNvPr id="8" name="Text 5"/>
          <p:cNvSpPr txBox="1"/>
          <p:nvPr/>
        </p:nvSpPr>
        <p:spPr>
          <a:xfrm>
            <a:off x="6492240" y="2450592"/>
            <a:ext cx="2011680" cy="548640"/>
          </a:xfrm>
          <a:prstGeom prst="rect">
            <a:avLst/>
          </a:prstGeom>
          <a:noFill/>
          <a:ln/>
        </p:spPr>
        <p:txBody>
          <a:bodyPr wrap="square" lIns="0" tIns="0" rIns="0" bIns="0" rtlCol="0" anchor="ctr"/>
          <a:lstStyle/>
          <a:p>
            <a:pPr indent="0" marL="0">
              <a:buNone/>
            </a:pPr>
            <a:r>
              <a:rPr lang="en-US" sz="3400" b="1" dirty="0">
                <a:solidFill>
                  <a:srgbClr val="1D3F6E"/>
                </a:solidFill>
                <a:latin typeface="Cambria" pitchFamily="34" charset="0"/>
                <a:ea typeface="Cambria" pitchFamily="34" charset="-122"/>
                <a:cs typeface="Cambria" pitchFamily="34" charset="-120"/>
              </a:rPr>
              <a:t>≈ 650×</a:t>
            </a:r>
            <a:endParaRPr lang="en-US" sz="3400" dirty="0"/>
          </a:p>
        </p:txBody>
      </p:sp>
      <p:sp>
        <p:nvSpPr>
          <p:cNvPr id="9" name="Text 6"/>
          <p:cNvSpPr txBox="1"/>
          <p:nvPr/>
        </p:nvSpPr>
        <p:spPr>
          <a:xfrm>
            <a:off x="6492240" y="2999232"/>
            <a:ext cx="201168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at n = 20 (804 vs 524,288)</a:t>
            </a:r>
            <a:endParaRPr lang="en-US" sz="1150" dirty="0"/>
          </a:p>
        </p:txBody>
      </p:sp>
      <p:sp>
        <p:nvSpPr>
          <p:cNvPr id="10" name="Shape 7"/>
          <p:cNvSpPr/>
          <p:nvPr/>
        </p:nvSpPr>
        <p:spPr>
          <a:xfrm>
            <a:off x="6309360" y="3566160"/>
            <a:ext cx="2377440" cy="1051560"/>
          </a:xfrm>
          <a:prstGeom prst="rect">
            <a:avLst/>
          </a:prstGeom>
          <a:solidFill>
            <a:srgbClr val="F4F5F7"/>
          </a:solidFill>
          <a:ln w="12700">
            <a:solidFill>
              <a:srgbClr val="F4F5F7"/>
            </a:solidFill>
            <a:prstDash val="solid"/>
          </a:ln>
        </p:spPr>
      </p:sp>
      <p:sp>
        <p:nvSpPr>
          <p:cNvPr id="11" name="Text 8"/>
          <p:cNvSpPr txBox="1"/>
          <p:nvPr/>
        </p:nvSpPr>
        <p:spPr>
          <a:xfrm>
            <a:off x="6492240" y="3639312"/>
            <a:ext cx="2011680" cy="548640"/>
          </a:xfrm>
          <a:prstGeom prst="rect">
            <a:avLst/>
          </a:prstGeom>
          <a:noFill/>
          <a:ln/>
        </p:spPr>
        <p:txBody>
          <a:bodyPr wrap="square" lIns="0" tIns="0" rIns="0" bIns="0" rtlCol="0" anchor="ctr"/>
          <a:lstStyle/>
          <a:p>
            <a:pPr indent="0" marL="0">
              <a:buNone/>
            </a:pPr>
            <a:r>
              <a:rPr lang="en-US" sz="3400" b="1" dirty="0">
                <a:solidFill>
                  <a:srgbClr val="B3261E"/>
                </a:solidFill>
                <a:latin typeface="Cambria" pitchFamily="34" charset="0"/>
                <a:ea typeface="Cambria" pitchFamily="34" charset="-122"/>
                <a:cs typeface="Cambria" pitchFamily="34" charset="-120"/>
              </a:rPr>
              <a:t>≥ 99.5%</a:t>
            </a:r>
            <a:endParaRPr lang="en-US" sz="3400" dirty="0"/>
          </a:p>
        </p:txBody>
      </p:sp>
      <p:sp>
        <p:nvSpPr>
          <p:cNvPr id="12" name="Text 9"/>
          <p:cNvSpPr txBox="1"/>
          <p:nvPr/>
        </p:nvSpPr>
        <p:spPr>
          <a:xfrm>
            <a:off x="6492240" y="4187952"/>
            <a:ext cx="2011680" cy="38404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success probability for every n ≥ 5</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A simulator cannot show the speed-up</a:t>
            </a:r>
            <a:endParaRPr lang="en-US" sz="3000" dirty="0"/>
          </a:p>
        </p:txBody>
      </p:sp>
      <p:pic>
        <p:nvPicPr>
          <p:cNvPr id="3" name="Image 0" descr="fig_time.png">    </p:cNvPr>
          <p:cNvPicPr>
            <a:picLocks noChangeAspect="1"/>
          </p:cNvPicPr>
          <p:nvPr/>
        </p:nvPicPr>
        <p:blipFill>
          <a:blip r:embed="rId1"/>
          <a:stretch>
            <a:fillRect/>
          </a:stretch>
        </p:blipFill>
        <p:spPr>
          <a:xfrm>
            <a:off x="457200" y="1280160"/>
            <a:ext cx="5120640" cy="3014749"/>
          </a:xfrm>
          <a:prstGeom prst="rect">
            <a:avLst/>
          </a:prstGeom>
        </p:spPr>
      </p:pic>
      <p:sp>
        <p:nvSpPr>
          <p:cNvPr id="4" name="Text 1"/>
          <p:cNvSpPr txBox="1"/>
          <p:nvPr/>
        </p:nvSpPr>
        <p:spPr>
          <a:xfrm>
            <a:off x="457200" y="4386349"/>
            <a:ext cx="5120640" cy="2743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Wall-clock time on the same CPU, log scale.</a:t>
            </a:r>
            <a:endParaRPr lang="en-US" sz="1150" dirty="0"/>
          </a:p>
        </p:txBody>
      </p:sp>
      <p:sp>
        <p:nvSpPr>
          <p:cNvPr id="5" name="Shape 2"/>
          <p:cNvSpPr/>
          <p:nvPr/>
        </p:nvSpPr>
        <p:spPr>
          <a:xfrm>
            <a:off x="5943600" y="1280160"/>
            <a:ext cx="2743200" cy="1463040"/>
          </a:xfrm>
          <a:prstGeom prst="rect">
            <a:avLst/>
          </a:prstGeom>
          <a:solidFill>
            <a:srgbClr val="F4F5F7"/>
          </a:solidFill>
          <a:ln w="12700">
            <a:solidFill>
              <a:srgbClr val="F4F5F7"/>
            </a:solidFill>
            <a:prstDash val="solid"/>
          </a:ln>
        </p:spPr>
      </p:sp>
      <p:sp>
        <p:nvSpPr>
          <p:cNvPr id="6" name="Text 3"/>
          <p:cNvSpPr txBox="1"/>
          <p:nvPr/>
        </p:nvSpPr>
        <p:spPr>
          <a:xfrm>
            <a:off x="6126480" y="1353312"/>
            <a:ext cx="2377440" cy="548640"/>
          </a:xfrm>
          <a:prstGeom prst="rect">
            <a:avLst/>
          </a:prstGeom>
          <a:noFill/>
          <a:ln/>
        </p:spPr>
        <p:txBody>
          <a:bodyPr wrap="square" lIns="0" tIns="0" rIns="0" bIns="0" rtlCol="0" anchor="ctr"/>
          <a:lstStyle/>
          <a:p>
            <a:pPr indent="0" marL="0">
              <a:buNone/>
            </a:pPr>
            <a:r>
              <a:rPr lang="en-US" sz="3400" b="1" dirty="0">
                <a:solidFill>
                  <a:srgbClr val="B3261E"/>
                </a:solidFill>
                <a:latin typeface="Cambria" pitchFamily="34" charset="0"/>
                <a:ea typeface="Cambria" pitchFamily="34" charset="-122"/>
                <a:cs typeface="Cambria" pitchFamily="34" charset="-120"/>
              </a:rPr>
              <a:t>3,297×</a:t>
            </a:r>
            <a:endParaRPr lang="en-US" sz="3400" dirty="0"/>
          </a:p>
        </p:txBody>
      </p:sp>
      <p:sp>
        <p:nvSpPr>
          <p:cNvPr id="7" name="Text 4"/>
          <p:cNvSpPr txBox="1"/>
          <p:nvPr/>
        </p:nvSpPr>
        <p:spPr>
          <a:xfrm>
            <a:off x="6126480" y="1901952"/>
            <a:ext cx="2377440" cy="795528"/>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slower to simulate than to search classically at n = 14 (139 ms vs 0.042 ms)</a:t>
            </a:r>
            <a:endParaRPr lang="en-US" sz="1150" dirty="0"/>
          </a:p>
        </p:txBody>
      </p:sp>
      <p:sp>
        <p:nvSpPr>
          <p:cNvPr id="8" name="Text 5"/>
          <p:cNvSpPr txBox="1"/>
          <p:nvPr/>
        </p:nvSpPr>
        <p:spPr>
          <a:xfrm>
            <a:off x="5943600" y="2926080"/>
            <a:ext cx="274320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4181F"/>
                </a:solidFill>
                <a:latin typeface="Calibri" pitchFamily="34" charset="0"/>
                <a:ea typeface="Calibri" pitchFamily="34" charset="-122"/>
                <a:cs typeface="Calibri" pitchFamily="34" charset="-120"/>
              </a:rPr>
              <a:t>The simulator does 2ⁿ operations for every gate.</a:t>
            </a:r>
            <a:endParaRPr lang="en-US" sz="1300" dirty="0"/>
          </a:p>
          <a:p>
            <a:pPr marL="342900" indent="-342900">
              <a:spcAft>
                <a:spcPts val="600"/>
              </a:spcAft>
              <a:buSzPct val="100000"/>
              <a:buChar char="•"/>
            </a:pPr>
            <a:r>
              <a:rPr lang="en-US" sz="1300" dirty="0">
                <a:solidFill>
                  <a:srgbClr val="14181F"/>
                </a:solidFill>
                <a:latin typeface="Calibri" pitchFamily="34" charset="0"/>
                <a:ea typeface="Calibri" pitchFamily="34" charset="-122"/>
                <a:cs typeface="Calibri" pitchFamily="34" charset="-120"/>
              </a:rPr>
              <a:t>Simulation cost grows much faster with n than classical search does.</a:t>
            </a:r>
            <a:endParaRPr lang="en-US" sz="1300" dirty="0"/>
          </a:p>
          <a:p>
            <a:pPr marL="342900" indent="-342900">
              <a:spcAft>
                <a:spcPts val="600"/>
              </a:spcAft>
              <a:buSzPct val="100000"/>
              <a:buChar char="•"/>
            </a:pPr>
            <a:r>
              <a:rPr lang="en-US" sz="1300" dirty="0">
                <a:solidFill>
                  <a:srgbClr val="14181F"/>
                </a:solidFill>
                <a:latin typeface="Calibri" pitchFamily="34" charset="0"/>
                <a:ea typeface="Calibri" pitchFamily="34" charset="-122"/>
                <a:cs typeface="Calibri" pitchFamily="34" charset="-120"/>
              </a:rPr>
              <a:t>Only real quantum hardware can turn fewer queries into less 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Reality check: noise and circuit depth</a:t>
            </a:r>
            <a:endParaRPr lang="en-US" sz="3000" dirty="0"/>
          </a:p>
        </p:txBody>
      </p:sp>
      <p:pic>
        <p:nvPicPr>
          <p:cNvPr id="3" name="Image 0" descr="fig_noise.png">    </p:cNvPr>
          <p:cNvPicPr>
            <a:picLocks noChangeAspect="1"/>
          </p:cNvPicPr>
          <p:nvPr/>
        </p:nvPicPr>
        <p:blipFill>
          <a:blip r:embed="rId1"/>
          <a:stretch>
            <a:fillRect/>
          </a:stretch>
        </p:blipFill>
        <p:spPr>
          <a:xfrm>
            <a:off x="457200" y="1234440"/>
            <a:ext cx="4937760" cy="2492637"/>
          </a:xfrm>
          <a:prstGeom prst="rect">
            <a:avLst/>
          </a:prstGeom>
        </p:spPr>
      </p:pic>
      <p:sp>
        <p:nvSpPr>
          <p:cNvPr id="4" name="Text 1"/>
          <p:cNvSpPr txBox="1"/>
          <p:nvPr/>
        </p:nvSpPr>
        <p:spPr>
          <a:xfrm>
            <a:off x="457200" y="3818517"/>
            <a:ext cx="4937760" cy="2743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Success probability against two-qubit gate error rate, for n = 8 to 20.</a:t>
            </a:r>
            <a:endParaRPr lang="en-US" sz="1150" dirty="0"/>
          </a:p>
        </p:txBody>
      </p:sp>
      <p:sp>
        <p:nvSpPr>
          <p:cNvPr id="5" name="Text 2"/>
          <p:cNvSpPr txBox="1"/>
          <p:nvPr/>
        </p:nvSpPr>
        <p:spPr>
          <a:xfrm>
            <a:off x="5760720" y="1280160"/>
            <a:ext cx="292608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81F"/>
                </a:solidFill>
                <a:latin typeface="Calibri" pitchFamily="34" charset="0"/>
                <a:ea typeface="Calibri" pitchFamily="34" charset="-122"/>
                <a:cs typeface="Calibri" pitchFamily="34" charset="-120"/>
              </a:rPr>
              <a:t>n = 14 needs 26 logical qubits and about 30,000 two-qubit gates.</a:t>
            </a:r>
            <a:endParaRPr lang="en-US" sz="1300" dirty="0"/>
          </a:p>
          <a:p>
            <a:pPr marL="342900" indent="-342900">
              <a:spcAft>
                <a:spcPts val="800"/>
              </a:spcAft>
              <a:buSzPct val="100000"/>
              <a:buChar char="•"/>
            </a:pPr>
            <a:r>
              <a:rPr lang="en-US" sz="1300" dirty="0">
                <a:solidFill>
                  <a:srgbClr val="14181F"/>
                </a:solidFill>
                <a:latin typeface="Calibri" pitchFamily="34" charset="0"/>
                <a:ea typeface="Calibri" pitchFamily="34" charset="-122"/>
                <a:cs typeface="Calibri" pitchFamily="34" charset="-120"/>
              </a:rPr>
              <a:t>At 10⁻³ error per gate, the run almost never succeeds.</a:t>
            </a:r>
            <a:endParaRPr lang="en-US" sz="1300" dirty="0"/>
          </a:p>
          <a:p>
            <a:pPr marL="342900" indent="-342900">
              <a:spcAft>
                <a:spcPts val="800"/>
              </a:spcAft>
              <a:buSzPct val="100000"/>
              <a:buChar char="•"/>
            </a:pPr>
            <a:r>
              <a:rPr lang="en-US" sz="1300" dirty="0">
                <a:solidFill>
                  <a:srgbClr val="14181F"/>
                </a:solidFill>
                <a:latin typeface="Calibri" pitchFamily="34" charset="0"/>
                <a:ea typeface="Calibri" pitchFamily="34" charset="-122"/>
                <a:cs typeface="Calibri" pitchFamily="34" charset="-120"/>
              </a:rPr>
              <a:t>At 10⁻⁶ it succeeds 96.5% of the time.</a:t>
            </a:r>
            <a:endParaRPr lang="en-US" sz="1300" dirty="0"/>
          </a:p>
          <a:p>
            <a:pPr marL="342900" indent="-342900">
              <a:spcAft>
                <a:spcPts val="800"/>
              </a:spcAft>
              <a:buSzPct val="100000"/>
              <a:buChar char="•"/>
            </a:pPr>
            <a:r>
              <a:rPr lang="en-US" sz="1300" dirty="0">
                <a:solidFill>
                  <a:srgbClr val="14181F"/>
                </a:solidFill>
                <a:latin typeface="Calibri" pitchFamily="34" charset="0"/>
                <a:ea typeface="Calibri" pitchFamily="34" charset="-122"/>
                <a:cs typeface="Calibri" pitchFamily="34" charset="-120"/>
              </a:rPr>
              <a:t>Faster and reliable only for n = 14–21, at 10⁻⁶ error and a simple oracle.</a:t>
            </a:r>
            <a:endParaRPr lang="en-US" sz="1300" dirty="0"/>
          </a:p>
          <a:p>
            <a:pPr marL="342900" indent="-342900">
              <a:spcAft>
                <a:spcPts val="800"/>
              </a:spcAft>
              <a:buSzPct val="100000"/>
              <a:buChar char="•"/>
            </a:pPr>
            <a:r>
              <a:rPr lang="en-US" sz="1300" dirty="0">
                <a:solidFill>
                  <a:srgbClr val="14181F"/>
                </a:solidFill>
                <a:latin typeface="Calibri" pitchFamily="34" charset="0"/>
                <a:ea typeface="Calibri" pitchFamily="34" charset="-122"/>
                <a:cs typeface="Calibri" pitchFamily="34" charset="-120"/>
              </a:rPr>
              <a:t>A 5,000-Toffoli oracle (hash-like) removes the window entirely.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2340"/>
                </a:solidFill>
                <a:latin typeface="Cambria" pitchFamily="34" charset="0"/>
                <a:ea typeface="Cambria" pitchFamily="34" charset="-122"/>
                <a:cs typeface="Cambria" pitchFamily="34" charset="-120"/>
              </a:rPr>
              <a:t>Classical search vs Grover’s algorithm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108960"/>
                <a:gridCol w="329184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Factor</a:t>
                      </a:r>
                      <a:endParaRPr lang="en-US" sz="130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solidFill>
                      <a:srgbClr val="1D3F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Classical</a:t>
                      </a:r>
                      <a:endParaRPr lang="en-US" sz="130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solidFill>
                      <a:srgbClr val="1D3F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Grover</a:t>
                      </a:r>
                      <a:endParaRPr lang="en-US" sz="130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solidFill>
                      <a:srgbClr val="1D3F6E"/>
                    </a:solidFill>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Queries</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O(N), about N/2 on average</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O(√N), about 0.785·√N</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Probabilistic, ≥ 99.5% for n ≥ 5</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Needs to know</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Nothing</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Number of secrets M, to choose k</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Oracle</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Any function call</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Reversible quantum circuit</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Parallelism</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p machines: p× faster</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p machines: only √p×</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Errors</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Negligible</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Depth grows as n√N: very sensitive</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r h="420624">
                <a:tc>
                  <a:txBody>
                    <a:bodyPr/>
                    <a:lstStyle/>
                    <a:p>
                      <a:pPr indent="0" marL="0">
                        <a:buNone/>
                      </a:pPr>
                      <a:r>
                        <a:rPr lang="en-US" sz="1250" b="1" dirty="0">
                          <a:solidFill>
                            <a:srgbClr val="14181F"/>
                          </a:solidFill>
                          <a:latin typeface="Calibri" pitchFamily="34" charset="0"/>
                          <a:ea typeface="Calibri" pitchFamily="34" charset="-122"/>
                          <a:cs typeface="Calibri" pitchFamily="34" charset="-120"/>
                        </a:rPr>
                        <a:t>Hardware</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Any CPU</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c>
                  <a:txBody>
                    <a:bodyPr/>
                    <a:lstStyle/>
                    <a:p>
                      <a:pPr indent="0" marL="0">
                        <a:buNone/>
                      </a:pPr>
                      <a:r>
                        <a:rPr lang="en-US" sz="1250" dirty="0">
                          <a:solidFill>
                            <a:srgbClr val="14181F"/>
                          </a:solidFill>
                          <a:latin typeface="Calibri" pitchFamily="34" charset="0"/>
                          <a:ea typeface="Calibri" pitchFamily="34" charset="-122"/>
                          <a:cs typeface="Calibri" pitchFamily="34" charset="-120"/>
                        </a:rPr>
                        <a:t>Fault-tolerant quantum computer</a:t>
                      </a:r>
                      <a:endParaRPr lang="en-US" sz="1250" dirty="0">
                        <a:latin typeface="Calibri" charset="0"/>
                        <a:ea typeface="Calibri" charset="0"/>
                        <a:cs typeface="Calibri" charset="0"/>
                      </a:endParaRPr>
                    </a:p>
                  </a:txBody>
                  <a:tcPr marL="109728" marR="109728" marT="45720" marB="45720" anchor="ctr">
                    <a:lnL w="9525" cap="flat" cmpd="sng" algn="ctr">
                      <a:solidFill>
                        <a:srgbClr val="D5D9DF"/>
                      </a:solidFill>
                      <a:prstDash val="solid"/>
                      <a:round/>
                      <a:headEnd type="none" w="med" len="med"/>
                      <a:tailEnd type="none" w="med" len="med"/>
                    </a:lnL>
                    <a:lnR w="9525" cap="flat" cmpd="sng" algn="ctr">
                      <a:solidFill>
                        <a:srgbClr val="D5D9DF"/>
                      </a:solidFill>
                      <a:prstDash val="solid"/>
                      <a:round/>
                      <a:headEnd type="none" w="med" len="med"/>
                      <a:tailEnd type="none" w="med" len="med"/>
                    </a:lnR>
                    <a:lnT w="9525" cap="flat" cmpd="sng" algn="ctr">
                      <a:solidFill>
                        <a:srgbClr val="D5D9DF"/>
                      </a:solidFill>
                      <a:prstDash val="solid"/>
                      <a:round/>
                      <a:headEnd type="none" w="med" len="med"/>
                      <a:tailEnd type="none" w="med" len="med"/>
                    </a:lnT>
                    <a:lnB w="9525" cap="flat" cmpd="sng" algn="ctr">
                      <a:solidFill>
                        <a:srgbClr val="D5D9D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340"/>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371600"/>
            <a:ext cx="548640" cy="640080"/>
          </a:xfrm>
          <a:prstGeom prst="rect">
            <a:avLst/>
          </a:prstGeom>
          <a:noFill/>
          <a:ln/>
        </p:spPr>
        <p:txBody>
          <a:bodyPr wrap="square" lIns="0" tIns="0" rIns="0" bIns="0" rtlCol="0" anchor="t"/>
          <a:lstStyle/>
          <a:p>
            <a:pPr indent="0" marL="0">
              <a:buNone/>
            </a:pPr>
            <a:r>
              <a:rPr lang="en-US" sz="3400" b="1" dirty="0">
                <a:solidFill>
                  <a:srgbClr val="E5484D"/>
                </a:solidFill>
                <a:latin typeface="Cambria" pitchFamily="34" charset="0"/>
                <a:ea typeface="Cambria" pitchFamily="34" charset="-122"/>
                <a:cs typeface="Cambria" pitchFamily="34" charset="-120"/>
              </a:rPr>
              <a:t>1</a:t>
            </a:r>
            <a:endParaRPr lang="en-US" sz="3400" dirty="0"/>
          </a:p>
        </p:txBody>
      </p:sp>
      <p:sp>
        <p:nvSpPr>
          <p:cNvPr id="4" name="Text 2"/>
          <p:cNvSpPr txBox="1"/>
          <p:nvPr/>
        </p:nvSpPr>
        <p:spPr>
          <a:xfrm>
            <a:off x="1280160" y="1371600"/>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implementation is correct</a:t>
            </a:r>
            <a:endParaRPr lang="en-US" sz="1900" dirty="0"/>
          </a:p>
        </p:txBody>
      </p:sp>
      <p:sp>
        <p:nvSpPr>
          <p:cNvPr id="5" name="Text 3"/>
          <p:cNvSpPr txBox="1"/>
          <p:nvPr/>
        </p:nvSpPr>
        <p:spPr>
          <a:xfrm>
            <a:off x="1280160" y="1755648"/>
            <a:ext cx="731520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A gate-level circuit that matches theory to 9 decimals at every iteration.</a:t>
            </a:r>
            <a:endParaRPr lang="en-US" sz="1400" dirty="0"/>
          </a:p>
        </p:txBody>
      </p:sp>
      <p:sp>
        <p:nvSpPr>
          <p:cNvPr id="6" name="Text 4"/>
          <p:cNvSpPr txBox="1"/>
          <p:nvPr/>
        </p:nvSpPr>
        <p:spPr>
          <a:xfrm>
            <a:off x="548640" y="2377440"/>
            <a:ext cx="548640" cy="640080"/>
          </a:xfrm>
          <a:prstGeom prst="rect">
            <a:avLst/>
          </a:prstGeom>
          <a:noFill/>
          <a:ln/>
        </p:spPr>
        <p:txBody>
          <a:bodyPr wrap="square" lIns="0" tIns="0" rIns="0" bIns="0" rtlCol="0" anchor="t"/>
          <a:lstStyle/>
          <a:p>
            <a:pPr indent="0" marL="0">
              <a:buNone/>
            </a:pPr>
            <a:r>
              <a:rPr lang="en-US" sz="3400" b="1" dirty="0">
                <a:solidFill>
                  <a:srgbClr val="E5484D"/>
                </a:solidFill>
                <a:latin typeface="Cambria" pitchFamily="34" charset="0"/>
                <a:ea typeface="Cambria" pitchFamily="34" charset="-122"/>
                <a:cs typeface="Cambria" pitchFamily="34" charset="-120"/>
              </a:rPr>
              <a:t>2</a:t>
            </a:r>
            <a:endParaRPr lang="en-US" sz="3400" dirty="0"/>
          </a:p>
        </p:txBody>
      </p:sp>
      <p:sp>
        <p:nvSpPr>
          <p:cNvPr id="7" name="Text 5"/>
          <p:cNvSpPr txBox="1"/>
          <p:nvPr/>
        </p:nvSpPr>
        <p:spPr>
          <a:xfrm>
            <a:off x="1280160" y="2377440"/>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query advantage is real, quadratic and optimal</a:t>
            </a:r>
            <a:endParaRPr lang="en-US" sz="1900" dirty="0"/>
          </a:p>
        </p:txBody>
      </p:sp>
      <p:sp>
        <p:nvSpPr>
          <p:cNvPr id="8" name="Text 6"/>
          <p:cNvSpPr txBox="1"/>
          <p:nvPr/>
        </p:nvSpPr>
        <p:spPr>
          <a:xfrm>
            <a:off x="1280160" y="2761488"/>
            <a:ext cx="731520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82× fewer queries at n = 14, growing as √N.</a:t>
            </a:r>
            <a:endParaRPr lang="en-US" sz="1400" dirty="0"/>
          </a:p>
        </p:txBody>
      </p:sp>
      <p:sp>
        <p:nvSpPr>
          <p:cNvPr id="9" name="Text 7"/>
          <p:cNvSpPr txBox="1"/>
          <p:nvPr/>
        </p:nvSpPr>
        <p:spPr>
          <a:xfrm>
            <a:off x="548640" y="3383280"/>
            <a:ext cx="548640" cy="640080"/>
          </a:xfrm>
          <a:prstGeom prst="rect">
            <a:avLst/>
          </a:prstGeom>
          <a:noFill/>
          <a:ln/>
        </p:spPr>
        <p:txBody>
          <a:bodyPr wrap="square" lIns="0" tIns="0" rIns="0" bIns="0" rtlCol="0" anchor="t"/>
          <a:lstStyle/>
          <a:p>
            <a:pPr indent="0" marL="0">
              <a:buNone/>
            </a:pPr>
            <a:r>
              <a:rPr lang="en-US" sz="3400" b="1" dirty="0">
                <a:solidFill>
                  <a:srgbClr val="E5484D"/>
                </a:solidFill>
                <a:latin typeface="Cambria" pitchFamily="34" charset="0"/>
                <a:ea typeface="Cambria" pitchFamily="34" charset="-122"/>
                <a:cs typeface="Cambria" pitchFamily="34" charset="-120"/>
              </a:rPr>
              <a:t>3</a:t>
            </a:r>
            <a:endParaRPr lang="en-US" sz="3400" dirty="0"/>
          </a:p>
        </p:txBody>
      </p:sp>
      <p:sp>
        <p:nvSpPr>
          <p:cNvPr id="10" name="Text 8"/>
          <p:cNvSpPr txBox="1"/>
          <p:nvPr/>
        </p:nvSpPr>
        <p:spPr>
          <a:xfrm>
            <a:off x="1280160" y="3383280"/>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It is not yet a practical advantage</a:t>
            </a:r>
            <a:endParaRPr lang="en-US" sz="1900" dirty="0"/>
          </a:p>
        </p:txBody>
      </p:sp>
      <p:sp>
        <p:nvSpPr>
          <p:cNvPr id="11" name="Text 9"/>
          <p:cNvSpPr txBox="1"/>
          <p:nvPr/>
        </p:nvSpPr>
        <p:spPr>
          <a:xfrm>
            <a:off x="1280160" y="3767328"/>
            <a:ext cx="731520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Circuit depth, noise and oracle cost dominate. It needs error-corrected hardware.</a:t>
            </a:r>
            <a:endParaRPr lang="en-US" sz="1400" dirty="0"/>
          </a:p>
        </p:txBody>
      </p:sp>
      <p:sp>
        <p:nvSpPr>
          <p:cNvPr id="12" name="Text 10"/>
          <p:cNvSpPr txBox="1"/>
          <p:nvPr/>
        </p:nvSpPr>
        <p:spPr>
          <a:xfrm>
            <a:off x="548640" y="4526280"/>
            <a:ext cx="4572000" cy="274320"/>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Kavin-JS.github.io/GrovX</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Search Lab (GrovX): Grover’s Search Algorithm</dc:title>
  <dc:subject>PptxGenJS Presentation</dc:subject>
  <dc:creator>PptxGenJS</dc:creator>
  <cp:lastModifiedBy>PptxGenJS</cp:lastModifiedBy>
  <cp:revision>1</cp:revision>
  <dcterms:created xsi:type="dcterms:W3CDTF">2026-09-20T06:20:24Z</dcterms:created>
  <dcterms:modified xsi:type="dcterms:W3CDTF">2026-09-20T06:20:24Z</dcterms:modified>
</cp:coreProperties>
</file>